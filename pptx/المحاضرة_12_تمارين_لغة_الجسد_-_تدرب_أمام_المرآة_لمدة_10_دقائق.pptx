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مرحباً بك في المحاضرة العملية الختامية لقسم لغة الجسد. هذه المحاضرة مختلفة. لن تسمع شرحاً جديداً. سأعطيك روتيناً مدته 10 دقائق، ستقوم به أمام المرآة كل يوم لمدة أسبوع. هذا الروتين هو ما سيحول كل ما تعلمته إلى عادة تلقائية.
أحضر مرآة كبيرة. الأفضل مرآة كاملة الجسم. إذا لم توجد، مرآة الوجه تكفي. وتأكد من أن لديك مساحة كافية للوقوف والتحرك.
لنبدأ. اضبط مؤقتاً على 10 دقائق. اتبع الخطوات بالترتيب:
الدقيقة 1 و2: وقفة القوة. قف أمام المرآة. ابدأ بوضعية ضعيفة لمدة 10 ثوانٍ: أكتاف متدلية، رأس منخفض، قدم متقاربة، ذراعان متقاطعتان. اشعر كيف تشعر. ثم فجأة، انتقل إلى وضعية القوة: كتفان للخلف، صدر بارز، ذقن موازٍ للأرض، قدم متباعدة بعرض الكتفين، يد على الخصر (أو على جانبيك). ابقَ على هذه الوضعية. انظر إلى نفسك. كرر جملة "أنا واثق وأستطيع إقناع أي شخص". اشعر بالجملة. بعد دقيقة، عد إلى الوضعية الضعيفة لمدة 10 ثوانٍ. ثم إلى وضعية القوة مجدداً. كرر هذا التبديل 3 مرات خلال الدقيقتين.
الدقيقة 3 و4: اليدان والذراعان. قف بوضعية القوة. الآن حرك يديك. ارفعهما إلى المنطقة الذهبية (من الخصر إلى الكتف). افتح كفيك. تخيل أنك تتحدث وتشرح نقاطاً. قل بصوت عالٍ "النقطة الأولى... النقطة الثانية... النقطة الثالثة". وكلما قلت رقم نقطة، ارفع إصبعاً. الآن، تدرب على تجنب الحركات السيئة: لا تضع يديك في جيوبك، لا تشبك أصابعك، لا تعبث بشيء. انظر إلى يديك في المرآة. هل هما في المنطقة الذهبية؟ هل الكفان مفتوحان؟
الدقيقة 5 و6: النظرات والتعابير. قف على بعد متر من المرآة. انظر إلى عينيك في المرآة. طبق قاعدة النظرة 60/30: انظر في عينيك 70% من الوقت، وحرك نظرك إلى أنفك أو جبهتك 30% من الوقت. الآن تدرب على الابتسامة الحقيقية: فكر في شيء يسعدك، ثم ابتسم. لاحظ تجاعيد العينين. ثم تدرب على تعابير الحاجبين: ارفع حاجبيك بسرعة لمدة نصف ثانية، ثم ارجعهما. افعل هذا 5 مرات.
الدقيقة 7 و8: المسافة والاتجاه. تخيل أن أمامك شخصاً واقفاً. قف على مسافة 1.2 متر منه (قدر المسافة). الآن، تخيل أن العلاقة تصبح أكثر دفئاً، فتقدم خطوة صغيرة إلى 1 متر. تراجع خطوة إلى 1.2 متر. تراجع مرة أخرى إلى 1.5 متر. عُد إلى 1.2 متر. كرر هذه الحركات ببطء. وفي نفس الوقت، وجّه جسدك كله نحو "الشخص" الذي تتخيله. لا توجّه كتفك فقط، بل وركاك أيضاً. الانحياز الكامل للجسد يعني الاهتمام الكامل.
الدقيقة 9 و10: سيناريو كامل. الآن، اجمع كل شيء معاً. تخيل سيناريو: أنت تدخل غرفة لمقابلة شخص مهم. ابدأ من الباب. امشِ أمام المرآة. توقف على مسافة مناسبة. ابتسم ابتسامة حقيقية (دقيقة 9). مد يدك للمصافحة (المرآة ليست شخصاً حقيقياً، لكن افعل الحركة). قل "أنا [اسمك]، سررت بلقائك". انظر في عيني المرآة. استمر في "الحديث" لمدة دقيقة. استخدم يديك في المنطقة الذهبية. حافظ على وضعية القوة. حرك نظرك بين العينين والأنف. ابتسم من وقت لآخر. ثم في نهاية الدقيقة، أنهِ بـ "تشرفت بلقائك".
هذا هو الروتين. 10 دقائق فقط يومياً. إذا قمت بهذا الروتين كل يوم لمدة أسبوع، ستصبح هذه السلوكيات طبيعية عندك. لن تضطر للتفكير فيها. ستصبح أنت.
نصيحة إضافية: بعد كل روتين، اكتب في دفترك شيئاً واحداً تحسنت فيه، وشيئاً واحداً ما زلت بحاجة لتحسينه. بعد أسبوع، ستندهش من التقدم.
تهانينا. لقد أكملت القسم الثالث. في القسم الرابع، سننتقل إلى التقنيات الكلامية الذهبية. ستتعلم 4 تقنيات كلامية يستخدمها كبار الإقناع في العالم. سنبدأ بقاعدة "نعم نعم نعم" السحرية.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مرحباً بك في المحاضرة العملية الختامية لقسم لغة الجسد. هذه المحاضرة مختلفة. لن تسمع شرحاً جديداً. سأعطيك روتيناً مدته 10 دقائق، ستقوم به أمام المرآة كل يوم لمدة أسبوع. هذا الروتين هو ما سيحول كل ما تعلمته إلى عادة تلقائية.
أحضر مرآة كبيرة. الأفضل مرآة كاملة الجسم. إذا لم توجد، مرآة الوجه تكفي. وتأكد من أن لديك مساحة كافية للوقوف والتحرك.
لنبدأ. اضبط مؤقتاً على 10 دقائق. اتبع الخطوات بالترتيب:
الدقيقة 1 و2: وقفة القوة. قف أمام المرآة. ابدأ بوضعية ضعيفة لمدة 10 ثوانٍ: أكتاف متدلية، رأس منخفض، قدم متقاربة، ذراعان متقاطعتان. اشعر كيف تشعر. ثم فجأة، انتقل إلى وضعية القوة: كتفان للخلف، صدر بارز، ذقن موازٍ للأرض، قدم متباعدة بعرض الكتفين، يد على الخصر (أو على جانبيك). ابقَ على هذه الوضعية. انظر إلى نفسك. كرر جملة "أنا واثق وأستطيع إقناع أي شخص". اشعر بالجملة. بعد دقيقة، عد إلى الوضعية الضعيفة لمدة 10 ثوانٍ. ثم إلى وضعية القوة مجدداً. كرر هذا التبديل 3 مرات خلال الدقيقتين.
الدقيقة 3 و4: اليدان والذراعان. قف بوضعية القوة. الآن حرك يديك. ارفعهما إلى المنطقة الذهبية (من الخصر إلى الكتف). افتح كفيك. تخيل أنك تتحدث وتشرح نقاطاً. قل بصوت عالٍ "النقطة الأولى... النقطة الثانية... النقطة الثالثة". وكلما قلت رقم نقطة، ارفع إصبعاً. الآن، تدرب على تجنب الحركات السيئة: لا تضع يديك في جيوبك، لا تشبك أصابعك، لا تعبث بشيء. انظر إلى يديك في المرآة. هل هما في المنطقة الذهبية؟ هل الكفان مفتوحان؟
الدقيقة 5 و6: النظرات والتعابير. قف على بعد متر من المرآة. انظر إلى عينيك في المرآة. طبق قاعدة النظرة 60/30: انظر في عينيك 70% من الوقت، وحرك نظرك إلى أنفك أو جبهتك 30% من الوقت. الآن تدرب على الابتسامة الحقيقية: فكر في شيء يسعدك، ثم ابتسم. لاحظ تجاعيد العينين. ثم تدرب على تعابير الحاجبين: ارفع حاجبيك بسرعة لمدة نصف ثانية، ثم ارجعهما. افعل هذا 5 مرات.
الدقيقة 7 و8: المسافة والاتجاه. تخيل أن أمامك شخصاً واقفاً. قف على مسافة 1.2 متر منه (قدر المسافة). الآن، تخيل أن العلاقة تصبح أكثر دفئاً، فتقدم خطوة صغيرة إلى 1 متر. تراجع خطوة إلى 1.2 متر. تراجع مرة أخرى إلى 1.5 متر. عُد إلى 1.2 متر. كرر هذه الحركات ببطء. وفي نفس الوقت، وجّه جسدك كله نحو "الشخص" الذي تتخيله. لا توجّه كتفك فقط، بل وركاك أيضاً. الانحياز الكامل للجسد يعني الاهتمام الكامل.
الدقيقة 9 و10: سيناريو كامل. الآن، اجمع كل شيء معاً. تخيل سيناريو: أنت تدخل غرفة لمقابلة شخص مهم. ابدأ من الباب. امشِ أمام المرآة. توقف على مسافة مناسبة. ابتسم ابتسامة حقيقية (دقيقة 9). مد يدك للمصافحة (المرآة ليست شخصاً حقيقياً، لكن افعل الحركة). قل "أنا [اسمك]، سررت بلقائك". انظر في عيني المرآة. استمر في "الحديث" لمدة دقيقة. استخدم يديك في المنطقة الذهبية. حافظ على وضعية القوة. حرك نظرك بين العينين والأنف. ابتسم من وقت لآخر. ثم في نهاية الدقيقة، أنهِ بـ "تشرفت بلقائك".
هذا هو الروتين. 10 دقائق فقط يومياً. إذا قمت بهذا الروتين كل يوم لمدة أسبوع، ستصبح هذه السلوكيات طبيعية عندك. لن تضطر للتفكير فيها. ستصبح أنت.
نصيحة إضافية: بعد كل روتين، اكتب في دفترك شيئاً واحداً تحسنت فيه، وشيئاً واحداً ما زلت بحاجة لتحسينه. بعد أسبوع، ستندهش من التقدم.
تهانينا. لقد أكملت القسم الثالث. في القسم الرابع، سننتقل إلى التقنيات الكلامية الذهبية. ستتعلم 4 تقنيات كلامية يستخدمها كبار الإقناع في العالم. سنبدأ بقاعدة "نعم نعم نعم" السحرية.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مرحباً بك في المحاضرة العملية الختامية لقسم لغة الجسد. هذه المحاضرة مختلفة. لن تسمع شرحاً جديداً. سأعطيك روتيناً مدته 10 دقائق، ستقوم به أمام المرآة كل يوم لمدة أسبوع. هذا الروتين هو ما سيحول كل ما تعلمته إلى عادة تلقائية.
أحضر مرآة كبيرة. الأفضل مرآة كاملة الجسم. إذا لم توجد، مرآة الوجه تكفي. وتأكد من أن لديك مساحة كافية للوقوف والتحرك.
لنبدأ. اضبط مؤقتاً على 10 دقائق. اتبع الخطوات بالترتيب:
الدقيقة 1 و2: وقفة القوة. قف أمام المرآة. ابدأ بوضعية ضعيفة لمدة 10 ثوانٍ: أكتاف متدلية، رأس منخفض، قدم متقاربة، ذراعان متقاطعتان. اشعر كيف تشعر. ثم فجأة، انتقل إلى وضعية القوة: كتفان للخلف، صدر بارز، ذقن موازٍ للأرض، قدم متباعدة بعرض الكتفين، يد على الخصر (أو على جانبيك). ابقَ على هذه الوضعية. انظر إلى نفسك. كرر جملة "أنا واثق وأستطيع إقناع أي شخص". اشعر بالجملة. بعد دقيقة، عد إلى الوضعية الضعيفة لمدة 10 ثوانٍ. ثم إلى وضعية القوة مجدداً. كرر هذا التبديل 3 مرات خلال الدقيقتين.
الدقيقة 3 و4: اليدان والذراعان. قف بوضعية القوة. الآن حرك يديك. ارفعهما إلى المنطقة الذهبية (من الخصر إلى الكتف). افتح كفيك. تخيل أنك تتحدث وتشرح نقاطاً. قل بصوت عالٍ "النقطة الأولى... النقطة الثانية... النقطة الثالثة". وكلما قلت رقم نقطة، ارفع إصبعاً. الآن، تدرب على تجنب الحركات السيئة: لا تضع يديك في جيوبك، لا تشبك أصابعك، لا تعبث بشيء. انظر إلى يديك في المرآة. هل هما في المنطقة الذهبية؟ هل الكفان مفتوحان؟
الدقيقة 5 و6: النظرات والتعابير. قف على بعد متر من المرآة. انظر إلى عينيك في المرآة. طبق قاعدة النظرة 60/30: انظر في عينيك 70% من الوقت، وحرك نظرك إلى أنفك أو جبهتك 30% من الوقت. الآن تدرب على الابتسامة الحقيقية: فكر في شيء يسعدك، ثم ابتسم. لاحظ تجاعيد العينين. ثم تدرب على تعابير الحاجبين: ارفع حاجبيك بسرعة لمدة نصف ثانية، ثم ارجعهما. افعل هذا 5 مرات.
الدقيقة 7 و8: المسافة والاتجاه. تخيل أن أمامك شخصاً واقفاً. قف على مسافة 1.2 متر منه (قدر المسافة). الآن، تخيل أن العلاقة تصبح أكثر دفئاً، فتقدم خطوة صغيرة إلى 1 متر. تراجع خطوة إلى 1.2 متر. تراجع مرة أخرى إلى 1.5 متر. عُد إلى 1.2 متر. كرر هذه الحركات ببطء. وفي نفس الوقت، وجّه جسدك كله نحو "الشخص" الذي تتخيله. لا توجّه كتفك فقط، بل وركاك أيضاً. الانحياز الكامل للجسد يعني الاهتمام الكامل.
الدقيقة 9 و10: سيناريو كامل. الآن، اجمع كل شيء معاً. تخيل سيناريو: أنت تدخل غرفة لمقابلة شخص مهم. ابدأ من الباب. امشِ أمام المرآة. توقف على مسافة مناسبة. ابتسم ابتسامة حقيقية (دقيقة 9). مد يدك للمصافحة (المرآة ليست شخصاً حقيقياً، لكن افعل الحركة). قل "أنا [اسمك]، سررت بلقائك". انظر في عيني المرآة. استمر في "الحديث" لمدة دقيقة. استخدم يديك في المنطقة الذهبية. حافظ على وضعية القوة. حرك نظرك بين العينين والأنف. ابتسم من وقت لآخر. ثم في نهاية الدقيقة، أنهِ بـ "تشرفت بلقائك".
هذا هو الروتين. 10 دقائق فقط يومياً. إذا قمت بهذا الروتين كل يوم لمدة أسبوع، ستصبح هذه السلوكيات طبيعية عندك. لن تضطر للتفكير فيها. ستصبح أنت.
نصيحة إضافية: بعد كل روتين، اكتب في دفترك شيئاً واحداً تحسنت فيه، وشيئاً واحداً ما زلت بحاجة لتحسينه. بعد أسبوع، ستندهش من التقدم.
تهانينا. لقد أكملت القسم الثالث. في القسم الرابع، سننتقل إلى التقنيات الكلامية الذهبية. ستتعلم 4 تقنيات كلامية يستخدمها كبار الإقناع في العالم. سنبدأ بقاعدة "نعم نعم نعم" السحرية.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مرحباً بك في المحاضرة العملية الختامية لقسم لغة الجسد. هذه المحاضرة مختلفة. لن تسمع شرحاً جديداً. سأعطيك روتيناً مدته 10 دقائق، ستقوم به أمام المرآة كل يوم لمدة أسبوع. هذا الروتين هو ما سيحول كل ما تعلمته إلى عادة تلقائية.
أحضر مرآة كبيرة. الأفضل مرآة كاملة الجسم. إذا لم توجد، مرآة الوجه تكفي. وتأكد من أن لديك مساحة كافية للوقوف والتحرك.
لنبدأ. اضبط مؤقتاً على 10 دقائق. اتبع الخطوات بالترتيب:
الدقيقة 1 و2: وقفة القوة. قف أمام المرآة. ابدأ بوضعية ضعيفة لمدة 10 ثوانٍ: أكتاف متدلية، رأس منخفض، قدم متقاربة، ذراعان متقاطعتان. اشعر كيف تشعر. ثم فجأة، انتقل إلى وضعية القوة: كتفان للخلف، صدر بارز، ذقن موازٍ للأرض، قدم متباعدة بعرض الكتفين، يد على الخصر (أو على جانبيك). ابقَ على هذه الوضعية. انظر إلى نفسك. كرر جملة "أنا واثق وأستطيع إقناع أي شخص". اشعر بالجملة. بعد دقيقة، عد إلى الوضعية الضعيفة لمدة 10 ثوانٍ. ثم إلى وضعية القوة مجدداً. كرر هذا التبديل 3 مرات خلال الدقيقتين.
الدقيقة 3 و4: اليدان والذراعان. قف بوضعية القوة. الآن حرك يديك. ارفعهما إلى المنطقة الذهبية (من الخصر إلى الكتف). افتح كفيك. تخيل أنك تتحدث وتشرح نقاطاً. قل بصوت عالٍ "النقطة الأولى... النقطة الثانية... النقطة الثالثة". وكلما قلت رقم نقطة، ارفع إصبعاً. الآن، تدرب على تجنب الحركات السيئة: لا تضع يديك في جيوبك، لا تشبك أصابعك، لا تعبث بشيء. انظر إلى يديك في المرآة. هل هما في المنطقة الذهبية؟ هل الكفان مفتوحان؟
الدقيقة 5 و6: النظرات والتعابير. قف على بعد متر من المرآة. انظر إلى عينيك في المرآة. طبق قاعدة النظرة 60/30: انظر في عينيك 70% من الوقت، وحرك نظرك إلى أنفك أو جبهتك 30% من الوقت. الآن تدرب على الابتسامة الحقيقية: فكر في شيء يسعدك، ثم ابتسم. لاحظ تجاعيد العينين. ثم تدرب على تعابير الحاجبين: ارفع حاجبيك بسرعة لمدة نصف ثانية، ثم ارجعهما. افعل هذا 5 مرات.
الدقيقة 7 و8: المسافة والاتجاه. تخيل أن أمامك شخصاً واقفاً. قف على مسافة 1.2 متر منه (قدر المسافة). الآن، تخيل أن العلاقة تصبح أكثر دفئاً، فتقدم خطوة صغيرة إلى 1 متر. تراجع خطوة إلى 1.2 متر. تراجع مرة أخرى إلى 1.5 متر. عُد إلى 1.2 متر. كرر هذه الحركات ببطء. وفي نفس الوقت، وجّه جسدك كله نحو "الشخص" الذي تتخيله. لا توجّه كتفك فقط، بل وركاك أيضاً. الانحياز الكامل للجسد يعني الاهتمام الكامل.
الدقيقة 9 و10: سيناريو كامل. الآن، اجمع كل شيء معاً. تخيل سيناريو: أنت تدخل غرفة لمقابلة شخص مهم. ابدأ من الباب. امشِ أمام المرآة. توقف على مسافة مناسبة. ابتسم ابتسامة حقيقية (دقيقة 9). مد يدك للمصافحة (المرآة ليست شخصاً حقيقياً، لكن افعل الحركة). قل "أنا [اسمك]، سررت بلقائك". انظر في عيني المرآة. استمر في "الحديث" لمدة دقيقة. استخدم يديك في المنطقة الذهبية. حافظ على وضعية القوة. حرك نظرك بين العينين والأنف. ابتسم من وقت لآخر. ثم في نهاية الدقيقة، أنهِ بـ "تشرفت بلقائك".
هذا هو الروتين. 10 دقائق فقط يومياً. إذا قمت بهذا الروتين كل يوم لمدة أسبوع، ستصبح هذه السلوكيات طبيعية عندك. لن تضطر للتفكير فيها. ستصبح أنت.
نصيحة إضافية: بعد كل روتين، اكتب في دفترك شيئاً واحداً تحسنت فيه، وشيئاً واحداً ما زلت بحاجة لتحسينه. بعد أسبوع، ستندهش من التقدم.
تهانينا. لقد أكملت القسم الثالث. في القسم الرابع، سننتقل إلى التقنيات الكلامية الذهبية. ستتعلم 4 تقنيات كلامية يستخدمها كبار الإقناع في العالم. سنبدأ بقاعدة "نعم نعم نعم" السحرية.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ملخص المحاضرة 12: تمارين لغة الجسد - تدرب أمام المرآة لمدة 10 دقائق
مرحباً بك في المحاضرة العملية الختامية لقسم لغة الجسد. هذه المحاضرة مختلفة. لن تسمع شرحاً جديداً. سأعطيك روتيناً مدته 10 دقائق، ستقوم به أمام المرآة كل يوم لمدة أسبوع. هذا الروتين هو ما سيحول كل ما تعلمته إلى عادة تلقائية.
أحضر مرآة كبيرة. الأفضل مرآة كاملة الجسم. إذا لم توجد، مرآة الوجه تكفي. وتأكد من أن لديك مساحة كافية للوقوف والتحرك.
لنبدأ. اضبط مؤقتاً على 10 دقائق. اتبع الخطوات بالترتيب:
الدقيقة 1 و2: وقفة القوة. قف أمام المرآة. ابدأ بوضعية ضعيفة لمدة 10 ثوانٍ: أكتاف متدلية، رأس منخفض، قدم متقاربة، ذراعان متقاطعتان. اشعر كيف تشعر. ثم فجأة، انتقل إلى وضعية القوة: كتفان للخلف، صدر بارز، ذقن موازٍ للأرض، قدم متباعدة بعرض الكتفين، يد على الخصر (أو على جانبيك). ابقَ على هذه الوضعية. انظر إلى نفسك. كرر جملة "أنا واثق وأستطيع إقناع أي شخص". اشعر بالجملة. بعد دقيقة، عد إلى الوضعية الضعيفة لمدة 10 ثوانٍ. ثم إلى وضعية القوة مجدداً. كرر هذا التبديل 3 مرات خلال الدقيقتين.
الدقيقة 3 و4: اليدان والذراعان. قف بوضعية القوة. الآن حرك يديك. ارفعهما إلى المنطقة الذهبية (من الخصر إلى الكتف). افتح كفيك. تخيل أنك تتحدث وتشرح نقاطاً. قل بصوت عالٍ "النقطة الأولى... النقطة الثانية... النقطة الثالثة". وكلما قلت رقم نقطة، ارفع إصبعاً. الآن، تدرب على تجنب الحركات السيئة: لا تضع يديك في جيوبك، لا تشبك أصابعك، لا تعبث بشيء. انظر إلى يديك في المرآة. هل هما في المنطقة الذهبية؟ هل الكفان مفتوحان؟
الدقيقة 5 و6: النظرات والتعابير. قف على بعد متر من المرآة. انظر إلى عينيك في المرآة. طبق قاعدة النظرة 60/30: انظر في عينيك 70% من الوقت، وحرك نظرك إلى أنفك أو جبهتك 30% من الوقت. الآن تدرب على الابتسامة الحقيقية: فكر في شيء يسعدك، ثم ابتسم. لاحظ تجاعيد العينين. ثم تدرب على تعابير الحاجبين: ارفع حاجبيك بسرعة لمدة نصف ثانية، ثم ارجعهما. افعل هذا 5 مرات.
الدقيقة 7 و8: المسافة والاتجاه. تخيل أن أمامك شخصاً واقفاً. قف على مسافة 1.2 متر منه (قدر المسافة). الآن، تخيل أن العلاقة تصبح أكثر دفئاً، فتقدم خطوة صغيرة إلى 1 متر. تراجع خطوة إلى 1.2 متر. تراجع مرة أخرى إلى 1.5 متر. عُد إلى 1.2 متر. كرر هذه الحركات ببطء. وفي نفس الوقت، وجّه جسدك كله نحو "الشخص" الذي تتخيله. لا توجّه كتفك فقط، بل وركاك أيضاً. الانحياز الكامل للجسد يعني الاهتمام الكامل.
الدقيقة 9 و10: سيناريو كامل. الآن، اجمع كل شيء معاً. تخيل سيناريو: أنت تدخل غرفة لمقابلة شخص مهم. ابدأ من الباب. امشِ أمام المرآة. توقف على مسافة مناسبة. ابتسم ابتسامة حقيقية (دقيقة 9). مد يدك للمصافحة (المرآة ليست شخصاً حقيقياً، لكن افعل الحركة). قل "أنا [اسمك]، سررت بلقائك". انظر في عيني المرآة. استمر في "الحديث" لمدة دقيقة. استخدم يديك في المنطقة الذهبية. حافظ على وضعية القوة. حرك نظرك بين العينين والأنف. ابتسم من وقت لآخر. ثم في نهاية الدقيقة، أنهِ بـ "تشرفت بلقائك".
هذا هو الروتين. 10 دقائق فقط يومياً. إذا قمت بهذا الروتين كل يوم لمدة أسبوع، ستصبح هذه السلوكيات طبيعية عندك. لن تضطر للتفكير فيها. ستصبح أنت.
نصيحة إضافية: بعد كل روتين، اكتب في دفترك شيئاً واحداً تحسنت فيه، وشيئاً واحداً ما زلت بحاجة لتحسينه. بعد أسبوع، ستندهش من التقدم.
تهانينا. لقد أكملت القسم الثالث. في القسم الرابع، سننتقل إلى التقنيات الكلامية الذهبية. ستتعلم 4 تقنيات كلامية يستخدمها كبار الإقناع في العالم. سنبدأ بقاعدة "نعم نعم نعم" السحرية.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6217920"/>
            <a:ext cx="12188952" cy="640080"/>
          </a:xfrm>
          <a:prstGeom prst="rect">
            <a:avLst/>
          </a:prstGeom>
          <a:solidFill>
            <a:srgbClr val="C9A84C"/>
          </a:solidFill>
          <a:ln/>
        </p:spPr>
      </p:sp>
      <p:sp>
        <p:nvSpPr>
          <p:cNvPr id="3" name="Shape 1"/>
          <p:cNvSpPr/>
          <p:nvPr/>
        </p:nvSpPr>
        <p:spPr>
          <a:xfrm>
            <a:off x="5184648" y="1371600"/>
            <a:ext cx="1828800" cy="548640"/>
          </a:xfrm>
          <a:prstGeom prst="rect">
            <a:avLst/>
          </a:prstGeom>
          <a:solidFill>
            <a:srgbClr val="C9A84C"/>
          </a:solidFill>
          <a:ln w="12700">
            <a:solidFill>
              <a:srgbClr val="C9A84C"/>
            </a:solidFill>
            <a:prstDash val="solid"/>
          </a:ln>
        </p:spPr>
      </p:sp>
      <p:sp>
        <p:nvSpPr>
          <p:cNvPr id="4" name="Text 2"/>
          <p:cNvSpPr/>
          <p:nvPr/>
        </p:nvSpPr>
        <p:spPr>
          <a:xfrm>
            <a:off x="5184648" y="1371600"/>
            <a:ext cx="1828800" cy="548640"/>
          </a:xfrm>
          <a:prstGeom prst="rect">
            <a:avLst/>
          </a:prstGeom>
          <a:noFill/>
          <a:ln/>
        </p:spPr>
        <p:txBody>
          <a:bodyPr wrap="square" rtlCol="0" anchor="ctr"/>
          <a:lstStyle/>
          <a:p>
            <a:pPr algn="ctr" indent="0" marL="0">
              <a:buNone/>
            </a:pPr>
            <a:r>
              <a:rPr lang="en-US" sz="1400" b="1" dirty="0">
                <a:solidFill>
                  <a:srgbClr val="0F1B2D"/>
                </a:solidFill>
                <a:latin typeface="Arial" pitchFamily="34" charset="0"/>
                <a:ea typeface="Arial" pitchFamily="34" charset="-122"/>
                <a:cs typeface="Arial" pitchFamily="34" charset="-120"/>
              </a:rPr>
              <a:t>المحاضرة 12</a:t>
            </a:r>
            <a:endParaRPr lang="en-US" sz="1400" dirty="0"/>
          </a:p>
        </p:txBody>
      </p:sp>
      <p:sp>
        <p:nvSpPr>
          <p:cNvPr id="5" name="Shape 3"/>
          <p:cNvSpPr/>
          <p:nvPr/>
        </p:nvSpPr>
        <p:spPr>
          <a:xfrm>
            <a:off x="7315200" y="1371600"/>
            <a:ext cx="1371600" cy="548640"/>
          </a:xfrm>
          <a:prstGeom prst="rect">
            <a:avLst/>
          </a:prstGeom>
          <a:solidFill>
            <a:srgbClr val="162338"/>
          </a:solidFill>
          <a:ln w="12700">
            <a:solidFill>
              <a:srgbClr val="C9A84C"/>
            </a:solidFill>
            <a:prstDash val="solid"/>
          </a:ln>
        </p:spPr>
      </p:sp>
      <p:sp>
        <p:nvSpPr>
          <p:cNvPr id="6" name="Text 4"/>
          <p:cNvSpPr/>
          <p:nvPr/>
        </p:nvSpPr>
        <p:spPr>
          <a:xfrm>
            <a:off x="7315200" y="1371600"/>
            <a:ext cx="1371600" cy="548640"/>
          </a:xfrm>
          <a:prstGeom prst="rect">
            <a:avLst/>
          </a:prstGeom>
          <a:noFill/>
          <a:ln/>
        </p:spPr>
        <p:txBody>
          <a:bodyPr wrap="square" rtlCol="0" anchor="ctr"/>
          <a:lstStyle/>
          <a:p>
            <a:pPr algn="ctr" indent="0" marL="0">
              <a:buNone/>
            </a:pPr>
            <a:r>
              <a:rPr lang="en-US" sz="1300" dirty="0">
                <a:solidFill>
                  <a:srgbClr val="C9A84C"/>
                </a:solidFill>
                <a:latin typeface="Arial" pitchFamily="34" charset="0"/>
                <a:ea typeface="Arial" pitchFamily="34" charset="-122"/>
                <a:cs typeface="Arial" pitchFamily="34" charset="-120"/>
              </a:rPr>
              <a:t>15 دقيقة</a:t>
            </a:r>
            <a:endParaRPr lang="en-US" sz="1300" dirty="0"/>
          </a:p>
        </p:txBody>
      </p:sp>
      <p:sp>
        <p:nvSpPr>
          <p:cNvPr id="7" name="Text 5"/>
          <p:cNvSpPr/>
          <p:nvPr/>
        </p:nvSpPr>
        <p:spPr>
          <a:xfrm>
            <a:off x="914400" y="2286000"/>
            <a:ext cx="10360152" cy="2286000"/>
          </a:xfrm>
          <a:prstGeom prst="rect">
            <a:avLst/>
          </a:prstGeom>
          <a:noFill/>
          <a:ln/>
        </p:spPr>
        <p:txBody>
          <a:bodyPr wrap="square" rtlCol="0" anchor="ctr"/>
          <a:lstStyle/>
          <a:p>
            <a:pPr rtl="1" algn="ctr" indent="0" marL="0">
              <a:buNone/>
            </a:pPr>
            <a:r>
              <a:rPr lang="en-US" sz="3600" b="1" dirty="0">
                <a:solidFill>
                  <a:srgbClr val="C9A84C"/>
                </a:solidFill>
                <a:latin typeface="Arial" pitchFamily="34" charset="0"/>
                <a:ea typeface="Arial" pitchFamily="34" charset="-122"/>
                <a:cs typeface="Arial" pitchFamily="34" charset="-120"/>
              </a:rPr>
              <a:t>تمارين لغة الجسد - تدرب أمام المرآة لمدة 10 دقائق</a:t>
            </a:r>
            <a:endParaRPr lang="en-US" sz="3600" dirty="0"/>
          </a:p>
        </p:txBody>
      </p:sp>
      <p:sp>
        <p:nvSpPr>
          <p:cNvPr id="8" name="Text 6"/>
          <p:cNvSpPr/>
          <p:nvPr/>
        </p:nvSpPr>
        <p:spPr>
          <a:xfrm>
            <a:off x="0" y="6263640"/>
            <a:ext cx="12188952" cy="502920"/>
          </a:xfrm>
          <a:prstGeom prst="rect">
            <a:avLst/>
          </a:prstGeom>
          <a:noFill/>
          <a:ln/>
        </p:spPr>
        <p:txBody>
          <a:bodyPr wrap="square" rtlCol="0" anchor="ctr"/>
          <a:lstStyle/>
          <a:p>
            <a:pPr algn="ctr" indent="0" marL="0">
              <a:buNone/>
            </a:pPr>
            <a:r>
              <a:rPr lang="en-US" sz="1400" b="1" dirty="0">
                <a:solidFill>
                  <a:srgbClr val="0F1B2D"/>
                </a:solidFill>
                <a:latin typeface="Arial" pitchFamily="34" charset="0"/>
                <a:ea typeface="Arial" pitchFamily="34" charset="-122"/>
                <a:cs typeface="Arial" pitchFamily="34" charset="-120"/>
              </a:rPr>
              <a:t>Readhubs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2600" b="1" dirty="0">
                <a:solidFill>
                  <a:srgbClr val="FFFFFF"/>
                </a:solidFill>
                <a:latin typeface="Arial" pitchFamily="34" charset="0"/>
                <a:ea typeface="Arial" pitchFamily="34" charset="-122"/>
                <a:cs typeface="Arial" pitchFamily="34" charset="-120"/>
              </a:rPr>
              <a:t>الروتين اليومي (10 دقائق)</a:t>
            </a:r>
            <a:endParaRPr lang="en-US" sz="2600" dirty="0"/>
          </a:p>
        </p:txBody>
      </p:sp>
      <p:sp>
        <p:nvSpPr>
          <p:cNvPr id="5" name="Shape 3"/>
          <p:cNvSpPr/>
          <p:nvPr/>
        </p:nvSpPr>
        <p:spPr>
          <a:xfrm>
            <a:off x="0" y="6537960"/>
            <a:ext cx="12188952" cy="320040"/>
          </a:xfrm>
          <a:prstGeom prst="rect">
            <a:avLst/>
          </a:prstGeom>
          <a:solidFill>
            <a:srgbClr val="C9A84C"/>
          </a:solidFill>
          <a:ln/>
        </p:spPr>
      </p:sp>
      <p:sp>
        <p:nvSpPr>
          <p:cNvPr id="6" name="Shape 4"/>
          <p:cNvSpPr/>
          <p:nvPr/>
        </p:nvSpPr>
        <p:spPr>
          <a:xfrm>
            <a:off x="11430000" y="1508760"/>
            <a:ext cx="182880" cy="182880"/>
          </a:xfrm>
          <a:prstGeom prst="ellipse">
            <a:avLst/>
          </a:prstGeom>
          <a:solidFill>
            <a:srgbClr val="C9A84C"/>
          </a:solidFill>
          <a:ln/>
        </p:spPr>
      </p:sp>
      <p:sp>
        <p:nvSpPr>
          <p:cNvPr id="7" name="Text 5"/>
          <p:cNvSpPr/>
          <p:nvPr/>
        </p:nvSpPr>
        <p:spPr>
          <a:xfrm>
            <a:off x="457200" y="146304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دقيقتان: وقفة القوة والتبديل مع وضعية الضعف</a:t>
            </a:r>
            <a:endParaRPr lang="en-US" sz="2200" dirty="0"/>
          </a:p>
        </p:txBody>
      </p:sp>
      <p:sp>
        <p:nvSpPr>
          <p:cNvPr id="8" name="Shape 6"/>
          <p:cNvSpPr/>
          <p:nvPr/>
        </p:nvSpPr>
        <p:spPr>
          <a:xfrm>
            <a:off x="11430000" y="2788920"/>
            <a:ext cx="182880" cy="182880"/>
          </a:xfrm>
          <a:prstGeom prst="ellipse">
            <a:avLst/>
          </a:prstGeom>
          <a:solidFill>
            <a:srgbClr val="C9A84C"/>
          </a:solidFill>
          <a:ln/>
        </p:spPr>
      </p:sp>
      <p:sp>
        <p:nvSpPr>
          <p:cNvPr id="9" name="Text 7"/>
          <p:cNvSpPr/>
          <p:nvPr/>
        </p:nvSpPr>
        <p:spPr>
          <a:xfrm>
            <a:off x="457200" y="274320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دقيقتان: اليدان في المنطقة الذهبية والعد بالأصابع</a:t>
            </a:r>
            <a:endParaRPr lang="en-US" sz="2200" dirty="0"/>
          </a:p>
        </p:txBody>
      </p:sp>
      <p:sp>
        <p:nvSpPr>
          <p:cNvPr id="10" name="Shape 8"/>
          <p:cNvSpPr/>
          <p:nvPr/>
        </p:nvSpPr>
        <p:spPr>
          <a:xfrm>
            <a:off x="11430000" y="4069080"/>
            <a:ext cx="182880" cy="182880"/>
          </a:xfrm>
          <a:prstGeom prst="ellipse">
            <a:avLst/>
          </a:prstGeom>
          <a:solidFill>
            <a:srgbClr val="C9A84C"/>
          </a:solidFill>
          <a:ln/>
        </p:spPr>
      </p:sp>
      <p:sp>
        <p:nvSpPr>
          <p:cNvPr id="11" name="Text 9"/>
          <p:cNvSpPr/>
          <p:nvPr/>
        </p:nvSpPr>
        <p:spPr>
          <a:xfrm>
            <a:off x="457200" y="402336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دقيقتان: النظرات والتعابير (عينان، حاجبان، ابتسامة)</a:t>
            </a:r>
            <a:endParaRPr lang="en-US" sz="2200" dirty="0"/>
          </a:p>
        </p:txBody>
      </p:sp>
      <p:sp>
        <p:nvSpPr>
          <p:cNvPr id="12" name="Shape 10"/>
          <p:cNvSpPr/>
          <p:nvPr/>
        </p:nvSpPr>
        <p:spPr>
          <a:xfrm>
            <a:off x="11430000" y="5349240"/>
            <a:ext cx="182880" cy="182880"/>
          </a:xfrm>
          <a:prstGeom prst="ellipse">
            <a:avLst/>
          </a:prstGeom>
          <a:solidFill>
            <a:srgbClr val="C9A84C"/>
          </a:solidFill>
          <a:ln/>
        </p:spPr>
      </p:sp>
      <p:sp>
        <p:nvSpPr>
          <p:cNvPr id="13" name="Text 11"/>
          <p:cNvSpPr/>
          <p:nvPr/>
        </p:nvSpPr>
        <p:spPr>
          <a:xfrm>
            <a:off x="457200" y="530352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دقيقتان: المسافة والاتجاه (تقدم وتراجع)</a:t>
            </a:r>
            <a:endParaRPr lang="en-US" sz="2200" dirty="0"/>
          </a:p>
        </p:txBody>
      </p:sp>
      <p:sp>
        <p:nvSpPr>
          <p:cNvPr id="14" name="Shape 12"/>
          <p:cNvSpPr/>
          <p:nvPr/>
        </p:nvSpPr>
        <p:spPr>
          <a:xfrm>
            <a:off x="11430000" y="6629400"/>
            <a:ext cx="182880" cy="182880"/>
          </a:xfrm>
          <a:prstGeom prst="ellipse">
            <a:avLst/>
          </a:prstGeom>
          <a:solidFill>
            <a:srgbClr val="C9A84C"/>
          </a:solidFill>
          <a:ln/>
        </p:spPr>
      </p:sp>
      <p:sp>
        <p:nvSpPr>
          <p:cNvPr id="15" name="Text 13"/>
          <p:cNvSpPr/>
          <p:nvPr/>
        </p:nvSpPr>
        <p:spPr>
          <a:xfrm>
            <a:off x="457200" y="658368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دقيقتان: سيناريو كامل (دخول، مصافحة، حديث)</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2600" b="1" dirty="0">
                <a:solidFill>
                  <a:srgbClr val="FFFFFF"/>
                </a:solidFill>
                <a:latin typeface="Arial" pitchFamily="34" charset="0"/>
                <a:ea typeface="Arial" pitchFamily="34" charset="-122"/>
                <a:cs typeface="Arial" pitchFamily="34" charset="-120"/>
              </a:rPr>
              <a:t>نصائح للتدريب الفعال</a:t>
            </a:r>
            <a:endParaRPr lang="en-US" sz="2600" dirty="0"/>
          </a:p>
        </p:txBody>
      </p:sp>
      <p:sp>
        <p:nvSpPr>
          <p:cNvPr id="5" name="Shape 3"/>
          <p:cNvSpPr/>
          <p:nvPr/>
        </p:nvSpPr>
        <p:spPr>
          <a:xfrm>
            <a:off x="0" y="6537960"/>
            <a:ext cx="12188952" cy="320040"/>
          </a:xfrm>
          <a:prstGeom prst="rect">
            <a:avLst/>
          </a:prstGeom>
          <a:solidFill>
            <a:srgbClr val="C9A84C"/>
          </a:solidFill>
          <a:ln/>
        </p:spPr>
      </p:sp>
      <p:sp>
        <p:nvSpPr>
          <p:cNvPr id="6" name="Shape 4"/>
          <p:cNvSpPr/>
          <p:nvPr/>
        </p:nvSpPr>
        <p:spPr>
          <a:xfrm>
            <a:off x="11430000" y="1508760"/>
            <a:ext cx="182880" cy="182880"/>
          </a:xfrm>
          <a:prstGeom prst="ellipse">
            <a:avLst/>
          </a:prstGeom>
          <a:solidFill>
            <a:srgbClr val="C9A84C"/>
          </a:solidFill>
          <a:ln/>
        </p:spPr>
      </p:sp>
      <p:sp>
        <p:nvSpPr>
          <p:cNvPr id="7" name="Text 5"/>
          <p:cNvSpPr/>
          <p:nvPr/>
        </p:nvSpPr>
        <p:spPr>
          <a:xfrm>
            <a:off x="457200" y="146304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تدرب يومياً في نفس الوقت</a:t>
            </a:r>
            <a:endParaRPr lang="en-US" sz="2200" dirty="0"/>
          </a:p>
        </p:txBody>
      </p:sp>
      <p:sp>
        <p:nvSpPr>
          <p:cNvPr id="8" name="Shape 6"/>
          <p:cNvSpPr/>
          <p:nvPr/>
        </p:nvSpPr>
        <p:spPr>
          <a:xfrm>
            <a:off x="11430000" y="3215640"/>
            <a:ext cx="182880" cy="182880"/>
          </a:xfrm>
          <a:prstGeom prst="ellipse">
            <a:avLst/>
          </a:prstGeom>
          <a:solidFill>
            <a:srgbClr val="C9A84C"/>
          </a:solidFill>
          <a:ln/>
        </p:spPr>
      </p:sp>
      <p:sp>
        <p:nvSpPr>
          <p:cNvPr id="9" name="Text 7"/>
          <p:cNvSpPr/>
          <p:nvPr/>
        </p:nvSpPr>
        <p:spPr>
          <a:xfrm>
            <a:off x="457200" y="316992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سجل نفسك مرة في الأسبوع</a:t>
            </a:r>
            <a:endParaRPr lang="en-US" sz="2200" dirty="0"/>
          </a:p>
        </p:txBody>
      </p:sp>
      <p:sp>
        <p:nvSpPr>
          <p:cNvPr id="10" name="Shape 8"/>
          <p:cNvSpPr/>
          <p:nvPr/>
        </p:nvSpPr>
        <p:spPr>
          <a:xfrm>
            <a:off x="11430000" y="4922520"/>
            <a:ext cx="182880" cy="182880"/>
          </a:xfrm>
          <a:prstGeom prst="ellipse">
            <a:avLst/>
          </a:prstGeom>
          <a:solidFill>
            <a:srgbClr val="C9A84C"/>
          </a:solidFill>
          <a:ln/>
        </p:spPr>
      </p:sp>
      <p:sp>
        <p:nvSpPr>
          <p:cNvPr id="11" name="Text 9"/>
          <p:cNvSpPr/>
          <p:nvPr/>
        </p:nvSpPr>
        <p:spPr>
          <a:xfrm>
            <a:off x="457200" y="487680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اكتب شيئاً تحسنت فيه وشيئاً تحتاج تحسينه</a:t>
            </a:r>
            <a:endParaRPr lang="en-US" sz="2200" dirty="0"/>
          </a:p>
        </p:txBody>
      </p:sp>
      <p:sp>
        <p:nvSpPr>
          <p:cNvPr id="12" name="Shape 10"/>
          <p:cNvSpPr/>
          <p:nvPr/>
        </p:nvSpPr>
        <p:spPr>
          <a:xfrm>
            <a:off x="11430000" y="6629400"/>
            <a:ext cx="182880" cy="182880"/>
          </a:xfrm>
          <a:prstGeom prst="ellipse">
            <a:avLst/>
          </a:prstGeom>
          <a:solidFill>
            <a:srgbClr val="C9A84C"/>
          </a:solidFill>
          <a:ln/>
        </p:spPr>
      </p:sp>
      <p:sp>
        <p:nvSpPr>
          <p:cNvPr id="13" name="Text 11"/>
          <p:cNvSpPr/>
          <p:nvPr/>
        </p:nvSpPr>
        <p:spPr>
          <a:xfrm>
            <a:off x="457200" y="658368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بعد أسبوع، ستلاحظ الفرق</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457200"/>
            <a:ext cx="12188952" cy="1645920"/>
          </a:xfrm>
          <a:prstGeom prst="rect">
            <a:avLst/>
          </a:prstGeom>
          <a:solidFill>
            <a:srgbClr val="C9A84C"/>
          </a:solidFill>
          <a:ln/>
        </p:spPr>
      </p:sp>
      <p:sp>
        <p:nvSpPr>
          <p:cNvPr id="3" name="Text 1"/>
          <p:cNvSpPr/>
          <p:nvPr/>
        </p:nvSpPr>
        <p:spPr>
          <a:xfrm>
            <a:off x="0" y="457200"/>
            <a:ext cx="12188952" cy="1645920"/>
          </a:xfrm>
          <a:prstGeom prst="rect">
            <a:avLst/>
          </a:prstGeom>
          <a:noFill/>
          <a:ln/>
        </p:spPr>
        <p:txBody>
          <a:bodyPr wrap="square" rtlCol="0" anchor="ctr"/>
          <a:lstStyle/>
          <a:p>
            <a:pPr rtl="1" algn="ctr" indent="0" marL="0">
              <a:buNone/>
            </a:pPr>
            <a:r>
              <a:rPr lang="en-US" sz="3200" b="1" dirty="0">
                <a:solidFill>
                  <a:srgbClr val="0F1B2D"/>
                </a:solidFill>
                <a:latin typeface="Arial" pitchFamily="34" charset="0"/>
                <a:ea typeface="Arial" pitchFamily="34" charset="-122"/>
                <a:cs typeface="Arial" pitchFamily="34" charset="-120"/>
              </a:rPr>
              <a:t>التمرين العملي</a:t>
            </a:r>
            <a:endParaRPr lang="en-US" sz="3200" dirty="0"/>
          </a:p>
        </p:txBody>
      </p:sp>
      <p:sp>
        <p:nvSpPr>
          <p:cNvPr id="4" name="Text 2"/>
          <p:cNvSpPr/>
          <p:nvPr/>
        </p:nvSpPr>
        <p:spPr>
          <a:xfrm>
            <a:off x="914400" y="2377440"/>
            <a:ext cx="10360152" cy="4023360"/>
          </a:xfrm>
          <a:prstGeom prst="rect">
            <a:avLst/>
          </a:prstGeom>
          <a:noFill/>
          <a:ln/>
        </p:spPr>
        <p:txBody>
          <a:bodyPr wrap="square" rtlCol="0" anchor="t"/>
          <a:lstStyle/>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دقيقتان: وقفة القوة والتبديل مع وضعية الضعف</a:t>
            </a:r>
            <a:endParaRPr lang="en-US" sz="2000" dirty="0"/>
          </a:p>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دقيقتان: اليدان في المنطقة الذهبية والعد بالأصابع</a:t>
            </a:r>
            <a:endParaRPr lang="en-US" sz="2000" dirty="0"/>
          </a:p>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دقيقتان: النظرات والتعابير (عينان، حاجبان، ابتسامة)</a:t>
            </a:r>
            <a:endParaRPr lang="en-US" sz="2000" dirty="0"/>
          </a:p>
        </p:txBody>
      </p:sp>
      <p:sp>
        <p:nvSpPr>
          <p:cNvPr id="5" name="Shape 3"/>
          <p:cNvSpPr/>
          <p:nvPr/>
        </p:nvSpPr>
        <p:spPr>
          <a:xfrm>
            <a:off x="0" y="6537960"/>
            <a:ext cx="12188952" cy="320040"/>
          </a:xfrm>
          <a:prstGeom prst="rect">
            <a:avLst/>
          </a:prstGeom>
          <a:solidFill>
            <a:srgbClr val="C9A84C"/>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3000" b="1" dirty="0">
                <a:solidFill>
                  <a:srgbClr val="C9A84C"/>
                </a:solidFill>
                <a:latin typeface="Arial" pitchFamily="34" charset="0"/>
                <a:ea typeface="Arial" pitchFamily="34" charset="-122"/>
                <a:cs typeface="Arial" pitchFamily="34" charset="-120"/>
              </a:rPr>
              <a:t>ما تعلمناه اليوم</a:t>
            </a:r>
            <a:endParaRPr lang="en-US" sz="3000" dirty="0"/>
          </a:p>
        </p:txBody>
      </p:sp>
      <p:sp>
        <p:nvSpPr>
          <p:cNvPr id="5" name="Shape 3"/>
          <p:cNvSpPr/>
          <p:nvPr/>
        </p:nvSpPr>
        <p:spPr>
          <a:xfrm>
            <a:off x="10972800" y="1737360"/>
            <a:ext cx="640080" cy="548640"/>
          </a:xfrm>
          <a:prstGeom prst="rect">
            <a:avLst/>
          </a:prstGeom>
          <a:solidFill>
            <a:srgbClr val="C9A84C"/>
          </a:solidFill>
          <a:ln/>
        </p:spPr>
      </p:sp>
      <p:sp>
        <p:nvSpPr>
          <p:cNvPr id="6" name="Text 4"/>
          <p:cNvSpPr/>
          <p:nvPr/>
        </p:nvSpPr>
        <p:spPr>
          <a:xfrm>
            <a:off x="10972800" y="173736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1</a:t>
            </a:r>
            <a:endParaRPr lang="en-US" sz="1800" dirty="0"/>
          </a:p>
        </p:txBody>
      </p:sp>
      <p:sp>
        <p:nvSpPr>
          <p:cNvPr id="7" name="Text 5"/>
          <p:cNvSpPr/>
          <p:nvPr/>
        </p:nvSpPr>
        <p:spPr>
          <a:xfrm>
            <a:off x="457200" y="173736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مرحباً بك في المحاضرة العملية الختامية لقسم لغة الجسد</a:t>
            </a:r>
            <a:endParaRPr lang="en-US" sz="2000" dirty="0"/>
          </a:p>
        </p:txBody>
      </p:sp>
      <p:sp>
        <p:nvSpPr>
          <p:cNvPr id="8" name="Shape 6"/>
          <p:cNvSpPr/>
          <p:nvPr/>
        </p:nvSpPr>
        <p:spPr>
          <a:xfrm>
            <a:off x="10972800" y="3017520"/>
            <a:ext cx="640080" cy="548640"/>
          </a:xfrm>
          <a:prstGeom prst="rect">
            <a:avLst/>
          </a:prstGeom>
          <a:solidFill>
            <a:srgbClr val="C9A84C"/>
          </a:solidFill>
          <a:ln/>
        </p:spPr>
      </p:sp>
      <p:sp>
        <p:nvSpPr>
          <p:cNvPr id="9" name="Text 7"/>
          <p:cNvSpPr/>
          <p:nvPr/>
        </p:nvSpPr>
        <p:spPr>
          <a:xfrm>
            <a:off x="10972800" y="301752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2</a:t>
            </a:r>
            <a:endParaRPr lang="en-US" sz="1800" dirty="0"/>
          </a:p>
        </p:txBody>
      </p:sp>
      <p:sp>
        <p:nvSpPr>
          <p:cNvPr id="10" name="Text 8"/>
          <p:cNvSpPr/>
          <p:nvPr/>
        </p:nvSpPr>
        <p:spPr>
          <a:xfrm>
            <a:off x="457200" y="301752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ارفعهما إلى المنطقة الذهبية (من الخصر إلى الكتف)</a:t>
            </a:r>
            <a:endParaRPr lang="en-US" sz="2000" dirty="0"/>
          </a:p>
        </p:txBody>
      </p:sp>
      <p:sp>
        <p:nvSpPr>
          <p:cNvPr id="11" name="Shape 9"/>
          <p:cNvSpPr/>
          <p:nvPr/>
        </p:nvSpPr>
        <p:spPr>
          <a:xfrm>
            <a:off x="10972800" y="4297680"/>
            <a:ext cx="640080" cy="548640"/>
          </a:xfrm>
          <a:prstGeom prst="rect">
            <a:avLst/>
          </a:prstGeom>
          <a:solidFill>
            <a:srgbClr val="C9A84C"/>
          </a:solidFill>
          <a:ln/>
        </p:spPr>
      </p:sp>
      <p:sp>
        <p:nvSpPr>
          <p:cNvPr id="12" name="Text 10"/>
          <p:cNvSpPr/>
          <p:nvPr/>
        </p:nvSpPr>
        <p:spPr>
          <a:xfrm>
            <a:off x="10972800" y="429768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3</a:t>
            </a:r>
            <a:endParaRPr lang="en-US" sz="1800" dirty="0"/>
          </a:p>
        </p:txBody>
      </p:sp>
      <p:sp>
        <p:nvSpPr>
          <p:cNvPr id="13" name="Text 11"/>
          <p:cNvSpPr/>
          <p:nvPr/>
        </p:nvSpPr>
        <p:spPr>
          <a:xfrm>
            <a:off x="457200" y="429768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الانحياز الكامل للجسد يعني الاهتمام الكامل</a:t>
            </a:r>
            <a:endParaRPr lang="en-US" sz="2000" dirty="0"/>
          </a:p>
        </p:txBody>
      </p:sp>
      <p:sp>
        <p:nvSpPr>
          <p:cNvPr id="14" name="Shape 12"/>
          <p:cNvSpPr/>
          <p:nvPr/>
        </p:nvSpPr>
        <p:spPr>
          <a:xfrm>
            <a:off x="0" y="6537960"/>
            <a:ext cx="12188952" cy="320040"/>
          </a:xfrm>
          <a:prstGeom prst="rect">
            <a:avLst/>
          </a:prstGeom>
          <a:solidFill>
            <a:srgbClr val="C9A84C"/>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2026-06-13T14:16:03Z</dcterms:created>
  <dcterms:modified xsi:type="dcterms:W3CDTF">2026-06-13T14:16:03Z</dcterms:modified>
</cp:coreProperties>
</file>