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في القسم الأخير. لقد تعلمت الكثير. الآن السؤال: كيف تحول هذه المعرفة إلى عادات تلقائية؟ كيف تجعل الإقناع جزءاً منك، وليس شيئاً تفكر فيه وتتذكره؟
الجواب: خطة 30 يوماً. سأعطيك خطة تدريجية، كل أسبوع تركز على مهارة واحدة فقط. لا تحاول تطبيق كل شيء معاً. هذا يصيبك بالشلل. ركز على شيء واحد في كل مرة.
الأسبوع الأول (الأيام 1-7): الثقة والمظهر والجاذبية.
التكليف اليومي: كل صباح، قف أمام المرآة لمدة دقيقتين. تدرب على وقفة القوة. تدرب على الابتسامة الحقيقية. قل لنفسك "أنا واثق من نفسي". وكلما قابلت شخصاً خلال اليوم، ركز فقط على ثلاثة أشياء: مصافحة جيدة، اتصال بصري 60%، وكرر اسمه مرة واحدة. هذا فقط. لا شيء آخر. نهاية الأسبوع، اكتب في دفترك: كم مرة طبقت؟ ما الذي شعرت به؟
الأسبوع الثاني (الأيام 8-14): لغة الجسد.
التكليف اليومي: ركز على يديك ووقفتك. خلال كل محادثة، انتبه: هل يديك في المنطقة الذهبية؟ هل كتفيك للخلف؟ هل تتخذ وضعية القوة؟ هل تتجنب حركات التمسيد؟ وفي نهاية كل يوم، خصص 5 دقائق أمام المرآة لروتين لغة الجسد الذي تعلمناه. هذا الأسبوع، لا تفكر في الكلمات أو التقنيات الكلامية. فقط لغة الجسد.
الأسبوع الثالث (الأيام 15-21): التقنيات الكلامية.
هذا الأسبوع ستطبق تقنية واحدة فقط كل يومين:
الأيام 15-16: قاعدة نعم نعم نعم. حاول أن تحصل على ثلاث موافقات قبل طلبك الرئيسي.
الأيام 17-18: تقنية المرآة. عكس لغة جسد ونبرة الطرف الآخر.
الأيام 19-20: الأسئلة السحرية. استخدم الأسئلة المفتوحة وأسئلة العواقب.
الأيام 21: تقنية الفجوة. حدد الوضع الحالي والمستقبل والجسر.
الأسبوع الرابع (الأيام 22-30): التطبيق في مواقف حقيقية.
الأيام 22-23: تدرب على إقناع مديرك (حتى لو كان تظاهرياً، تخيل الموقف واكتب السيناريو).
الأيام 24-25: تدرب على إقناع عميل (حقيقي أو متخيل).
الأيام 26-27: تدرب على إقناع شريك حياتك أو صديق (حقيقي).
الأيام 28-30: راجع كل ما تعلمته. اختر موقفاً صعباً لم تستطع إقناع شخص فيه في الماضي، وأعد كتابة كيف ستتصرف الآن.
أداة مساعدة: احتفظ بـ "سجل الإقناع اليومي". كل مساء، اكتب:
- كم مرة حاولت الإقناع اليوم؟
- ما هي التقنية التي استخدمتها؟
- ماذا كانت النتيجة؟
- شيء واحد فعلته بشكل جيد.
- شيء واحد يمكن تحسينه غداً.
هذا السجل هو مفتاحك للتحسن المستمر. الكتابة تجعلك واعياً، والوعي هو بداية التغيير.
التمرين العملي الآن: افتح دفترك. اكتب خطة الـ 30 يوماً هذه. ضع تاريخ البدء (مثلاً: يوم الاثنين القادم). واكتب بجانب كل أسبوع ما ستفعله بالضبط. التزم بها. بعد 30 يوماً، ستنظر إلى نفسك ولن تصدق الفرق.
في المحاضرة القادمة، سنتعلم كيف نطبق الإقناع في المكالمات الهاتفية والواتساب والإيميل. لأن الإقناع ليس وجهاً لوجه فقط.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في القسم الأخير. لقد تعلمت الكثير. الآن السؤال: كيف تحول هذه المعرفة إلى عادات تلقائية؟ كيف تجعل الإقناع جزءاً منك، وليس شيئاً تفكر فيه وتتذكره؟
الجواب: خطة 30 يوماً. سأعطيك خطة تدريجية، كل أسبوع تركز على مهارة واحدة فقط. لا تحاول تطبيق كل شيء معاً. هذا يصيبك بالشلل. ركز على شيء واحد في كل مرة.
الأسبوع الأول (الأيام 1-7): الثقة والمظهر والجاذبية.
التكليف اليومي: كل صباح، قف أمام المرآة لمدة دقيقتين. تدرب على وقفة القوة. تدرب على الابتسامة الحقيقية. قل لنفسك "أنا واثق من نفسي". وكلما قابلت شخصاً خلال اليوم، ركز فقط على ثلاثة أشياء: مصافحة جيدة، اتصال بصري 60%، وكرر اسمه مرة واحدة. هذا فقط. لا شيء آخر. نهاية الأسبوع، اكتب في دفترك: كم مرة طبقت؟ ما الذي شعرت به؟
الأسبوع الثاني (الأيام 8-14): لغة الجسد.
التكليف اليومي: ركز على يديك ووقفتك. خلال كل محادثة، انتبه: هل يديك في المنطقة الذهبية؟ هل كتفيك للخلف؟ هل تتخذ وضعية القوة؟ هل تتجنب حركات التمسيد؟ وفي نهاية كل يوم، خصص 5 دقائق أمام المرآة لروتين لغة الجسد الذي تعلمناه. هذا الأسبوع، لا تفكر في الكلمات أو التقنيات الكلامية. فقط لغة الجسد.
الأسبوع الثالث (الأيام 15-21): التقنيات الكلامية.
هذا الأسبوع ستطبق تقنية واحدة فقط كل يومين:
الأيام 15-16: قاعدة نعم نعم نعم. حاول أن تحصل على ثلاث موافقات قبل طلبك الرئيسي.
الأيام 17-18: تقنية المرآة. عكس لغة جسد ونبرة الطرف الآخر.
الأيام 19-20: الأسئلة السحرية. استخدم الأسئلة المفتوحة وأسئلة العواقب.
الأيام 21: تقنية الفجوة. حدد الوضع الحالي والمستقبل والجسر.
الأسبوع الرابع (الأيام 22-30): التطبيق في مواقف حقيقية.
الأيام 22-23: تدرب على إقناع مديرك (حتى لو كان تظاهرياً، تخيل الموقف واكتب السيناريو).
الأيام 24-25: تدرب على إقناع عميل (حقيقي أو متخيل).
الأيام 26-27: تدرب على إقناع شريك حياتك أو صديق (حقيقي).
الأيام 28-30: راجع كل ما تعلمته. اختر موقفاً صعباً لم تستطع إقناع شخص فيه في الماضي، وأعد كتابة كيف ستتصرف الآن.
أداة مساعدة: احتفظ بـ "سجل الإقناع اليومي". كل مساء، اكتب:
- كم مرة حاولت الإقناع اليوم؟
- ما هي التقنية التي استخدمتها؟
- ماذا كانت النتيجة؟
- شيء واحد فعلته بشكل جيد.
- شيء واحد يمكن تحسينه غداً.
هذا السجل هو مفتاحك للتحسن المستمر. الكتابة تجعلك واعياً، والوعي هو بداية التغيير.
التمرين العملي الآن: افتح دفترك. اكتب خطة الـ 30 يوماً هذه. ضع تاريخ البدء (مثلاً: يوم الاثنين القادم). واكتب بجانب كل أسبوع ما ستفعله بالضبط. التزم بها. بعد 30 يوماً، ستنظر إلى نفسك ولن تصدق الفرق.
في المحاضرة القادمة، سنتعلم كيف نطبق الإقناع في المكالمات الهاتفية والواتساب والإيميل. لأن الإقناع ليس وجهاً لوجه فقط.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في القسم الأخير. لقد تعلمت الكثير. الآن السؤال: كيف تحول هذه المعرفة إلى عادات تلقائية؟ كيف تجعل الإقناع جزءاً منك، وليس شيئاً تفكر فيه وتتذكره؟
الجواب: خطة 30 يوماً. سأعطيك خطة تدريجية، كل أسبوع تركز على مهارة واحدة فقط. لا تحاول تطبيق كل شيء معاً. هذا يصيبك بالشلل. ركز على شيء واحد في كل مرة.
الأسبوع الأول (الأيام 1-7): الثقة والمظهر والجاذبية.
التكليف اليومي: كل صباح، قف أمام المرآة لمدة دقيقتين. تدرب على وقفة القوة. تدرب على الابتسامة الحقيقية. قل لنفسك "أنا واثق من نفسي". وكلما قابلت شخصاً خلال اليوم، ركز فقط على ثلاثة أشياء: مصافحة جيدة، اتصال بصري 60%، وكرر اسمه مرة واحدة. هذا فقط. لا شيء آخر. نهاية الأسبوع، اكتب في دفترك: كم مرة طبقت؟ ما الذي شعرت به؟
الأسبوع الثاني (الأيام 8-14): لغة الجسد.
التكليف اليومي: ركز على يديك ووقفتك. خلال كل محادثة، انتبه: هل يديك في المنطقة الذهبية؟ هل كتفيك للخلف؟ هل تتخذ وضعية القوة؟ هل تتجنب حركات التمسيد؟ وفي نهاية كل يوم، خصص 5 دقائق أمام المرآة لروتين لغة الجسد الذي تعلمناه. هذا الأسبوع، لا تفكر في الكلمات أو التقنيات الكلامية. فقط لغة الجسد.
الأسبوع الثالث (الأيام 15-21): التقنيات الكلامية.
هذا الأسبوع ستطبق تقنية واحدة فقط كل يومين:
الأيام 15-16: قاعدة نعم نعم نعم. حاول أن تحصل على ثلاث موافقات قبل طلبك الرئيسي.
الأيام 17-18: تقنية المرآة. عكس لغة جسد ونبرة الطرف الآخر.
الأيام 19-20: الأسئلة السحرية. استخدم الأسئلة المفتوحة وأسئلة العواقب.
الأيام 21: تقنية الفجوة. حدد الوضع الحالي والمستقبل والجسر.
الأسبوع الرابع (الأيام 22-30): التطبيق في مواقف حقيقية.
الأيام 22-23: تدرب على إقناع مديرك (حتى لو كان تظاهرياً، تخيل الموقف واكتب السيناريو).
الأيام 24-25: تدرب على إقناع عميل (حقيقي أو متخيل).
الأيام 26-27: تدرب على إقناع شريك حياتك أو صديق (حقيقي).
الأيام 28-30: راجع كل ما تعلمته. اختر موقفاً صعباً لم تستطع إقناع شخص فيه في الماضي، وأعد كتابة كيف ستتصرف الآن.
أداة مساعدة: احتفظ بـ "سجل الإقناع اليومي". كل مساء، اكتب:
- كم مرة حاولت الإقناع اليوم؟
- ما هي التقنية التي استخدمتها؟
- ماذا كانت النتيجة؟
- شيء واحد فعلته بشكل جيد.
- شيء واحد يمكن تحسينه غداً.
هذا السجل هو مفتاحك للتحسن المستمر. الكتابة تجعلك واعياً، والوعي هو بداية التغيير.
التمرين العملي الآن: افتح دفترك. اكتب خطة الـ 30 يوماً هذه. ضع تاريخ البدء (مثلاً: يوم الاثنين القادم). واكتب بجانب كل أسبوع ما ستفعله بالضبط. التزم بها. بعد 30 يوماً، ستنظر إلى نفسك ولن تصدق الفرق.
في المحاضرة القادمة، سنتعلم كيف نطبق الإقناع في المكالمات الهاتفية والواتساب والإيميل. لأن الإقناع ليس وجهاً لوجه فقط.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في القسم الأخير. لقد تعلمت الكثير. الآن السؤال: كيف تحول هذه المعرفة إلى عادات تلقائية؟ كيف تجعل الإقناع جزءاً منك، وليس شيئاً تفكر فيه وتتذكره؟
الجواب: خطة 30 يوماً. سأعطيك خطة تدريجية، كل أسبوع تركز على مهارة واحدة فقط. لا تحاول تطبيق كل شيء معاً. هذا يصيبك بالشلل. ركز على شيء واحد في كل مرة.
الأسبوع الأول (الأيام 1-7): الثقة والمظهر والجاذبية.
التكليف اليومي: كل صباح، قف أمام المرآة لمدة دقيقتين. تدرب على وقفة القوة. تدرب على الابتسامة الحقيقية. قل لنفسك "أنا واثق من نفسي". وكلما قابلت شخصاً خلال اليوم، ركز فقط على ثلاثة أشياء: مصافحة جيدة، اتصال بصري 60%، وكرر اسمه مرة واحدة. هذا فقط. لا شيء آخر. نهاية الأسبوع، اكتب في دفترك: كم مرة طبقت؟ ما الذي شعرت به؟
الأسبوع الثاني (الأيام 8-14): لغة الجسد.
التكليف اليومي: ركز على يديك ووقفتك. خلال كل محادثة، انتبه: هل يديك في المنطقة الذهبية؟ هل كتفيك للخلف؟ هل تتخذ وضعية القوة؟ هل تتجنب حركات التمسيد؟ وفي نهاية كل يوم، خصص 5 دقائق أمام المرآة لروتين لغة الجسد الذي تعلمناه. هذا الأسبوع، لا تفكر في الكلمات أو التقنيات الكلامية. فقط لغة الجسد.
الأسبوع الثالث (الأيام 15-21): التقنيات الكلامية.
هذا الأسبوع ستطبق تقنية واحدة فقط كل يومين:
الأيام 15-16: قاعدة نعم نعم نعم. حاول أن تحصل على ثلاث موافقات قبل طلبك الرئيسي.
الأيام 17-18: تقنية المرآة. عكس لغة جسد ونبرة الطرف الآخر.
الأيام 19-20: الأسئلة السحرية. استخدم الأسئلة المفتوحة وأسئلة العواقب.
الأيام 21: تقنية الفجوة. حدد الوضع الحالي والمستقبل والجسر.
الأسبوع الرابع (الأيام 22-30): التطبيق في مواقف حقيقية.
الأيام 22-23: تدرب على إقناع مديرك (حتى لو كان تظاهرياً، تخيل الموقف واكتب السيناريو).
الأيام 24-25: تدرب على إقناع عميل (حقيقي أو متخيل).
الأيام 26-27: تدرب على إقناع شريك حياتك أو صديق (حقيقي).
الأيام 28-30: راجع كل ما تعلمته. اختر موقفاً صعباً لم تستطع إقناع شخص فيه في الماضي، وأعد كتابة كيف ستتصرف الآن.
أداة مساعدة: احتفظ بـ "سجل الإقناع اليومي". كل مساء، اكتب:
- كم مرة حاولت الإقناع اليوم؟
- ما هي التقنية التي استخدمتها؟
- ماذا كانت النتيجة؟
- شيء واحد فعلته بشكل جيد.
- شيء واحد يمكن تحسينه غداً.
هذا السجل هو مفتاحك للتحسن المستمر. الكتابة تجعلك واعياً، والوعي هو بداية التغيير.
التمرين العملي الآن: افتح دفترك. اكتب خطة الـ 30 يوماً هذه. ضع تاريخ البدء (مثلاً: يوم الاثنين القادم). واكتب بجانب كل أسبوع ما ستفعله بالضبط. التزم بها. بعد 30 يوماً، ستنظر إلى نفسك ولن تصدق الفرق.
في المحاضرة القادمة، سنتعلم كيف نطبق الإقناع في المكالمات الهاتفية والواتساب والإيميل. لأن الإقناع ليس وجهاً لوجه فقط.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ملخص المحاضرة 21: خطة 30 يوماً لبناء عادات الإقناع التلقائية
أهلاً بك في القسم الأخير. لقد تعلمت الكثير. الآن السؤال: كيف تحول هذه المعرفة إلى عادات تلقائية؟ كيف تجعل الإقناع جزءاً منك، وليس شيئاً تفكر فيه وتتذكره؟
الجواب: خطة 30 يوماً. سأعطيك خطة تدريجية، كل أسبوع تركز على مهارة واحدة فقط. لا تحاول تطبيق كل شيء معاً. هذا يصيبك بالشلل. ركز على شيء واحد في كل مرة.
الأسبوع الأول (الأيام 1-7): الثقة والمظهر والجاذبية.
التكليف اليومي: كل صباح، قف أمام المرآة لمدة دقيقتين. تدرب على وقفة القوة. تدرب على الابتسامة الحقيقية. قل لنفسك "أنا واثق من نفسي". وكلما قابلت شخصاً خلال اليوم، ركز فقط على ثلاثة أشياء: مصافحة جيدة، اتصال بصري 60%، وكرر اسمه مرة واحدة. هذا فقط. لا شيء آخر. نهاية الأسبوع، اكتب في دفترك: كم مرة طبقت؟ ما الذي شعرت به؟
الأسبوع الثاني (الأيام 8-14): لغة الجسد.
التكليف اليومي: ركز على يديك ووقفتك. خلال كل محادثة، انتبه: هل يديك في المنطقة الذهبية؟ هل كتفيك للخلف؟ هل تتخذ وضعية القوة؟ هل تتجنب حركات التمسيد؟ وفي نهاية كل يوم، خصص 5 دقائق أمام المرآة لروتين لغة الجسد الذي تعلمناه. هذا الأسبوع، لا تفكر في الكلمات أو التقنيات الكلامية. فقط لغة الجسد.
الأسبوع الثالث (الأيام 15-21): التقنيات الكلامية.
هذا الأسبوع ستطبق تقنية واحدة فقط كل يومين:
الأيام 15-16: قاعدة نعم نعم نعم. حاول أن تحصل على ثلاث موافقات قبل طلبك الرئيسي.
الأيام 17-18: تقنية المرآة. عكس لغة جسد ونبرة الطرف الآخر.
الأيام 19-20: الأسئلة السحرية. استخدم الأسئلة المفتوحة وأسئلة العواقب.
الأيام 21: تقنية الفجوة. حدد الوضع الحالي والمستقبل والجسر.
الأسبوع الرابع (الأيام 22-30): التطبيق في مواقف حقيقية.
الأيام 22-23: تدرب على إقناع مديرك (حتى لو كان تظاهرياً، تخيل الموقف واكتب السيناريو).
الأيام 24-25: تدرب على إقناع عميل (حقيقي أو متخيل).
الأيام 26-27: تدرب على إقناع شريك حياتك أو صديق (حقيقي).
الأيام 28-30: راجع كل ما تعلمته. اختر موقفاً صعباً لم تستطع إقناع شخص فيه في الماضي، وأعد كتابة كيف ستتصرف الآن.
أداة مساعدة: احتفظ بـ "سجل الإقناع اليومي". كل مساء، اكتب:
- كم مرة حاولت الإقناع اليوم؟
- ما هي التقنية التي استخدمتها؟
- ماذا كانت النتيجة؟
- شيء واحد فعلته بشكل جيد.
- شيء واحد يمكن تحسينه غداً.
هذا السجل هو مفتاحك للتحسن المستمر. الكتابة تجعلك واعياً، والوعي هو بداية التغيير.
التمرين العملي الآن: افتح دفترك. اكتب خطة الـ 30 يوماً هذه. ضع تاريخ البدء (مثلاً: يوم الاثنين القادم). واكتب بجانب كل أسبوع ما ستفعله بالضبط. التزم بها. بعد 30 يوماً، ستنظر إلى نفسك ولن تصدق الفرق.
في المحاضرة القادمة، سنتعلم كيف نطبق الإقناع في المكالمات الهاتفية والواتساب والإيميل. لأن الإقناع ليس وجهاً لوجه فقط.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6217920"/>
            <a:ext cx="12188952" cy="640080"/>
          </a:xfrm>
          <a:prstGeom prst="rect">
            <a:avLst/>
          </a:prstGeom>
          <a:solidFill>
            <a:srgbClr val="C9A84C"/>
          </a:solidFill>
          <a:ln/>
        </p:spPr>
      </p:sp>
      <p:sp>
        <p:nvSpPr>
          <p:cNvPr id="3" name="Shape 1"/>
          <p:cNvSpPr/>
          <p:nvPr/>
        </p:nvSpPr>
        <p:spPr>
          <a:xfrm>
            <a:off x="5184648" y="1371600"/>
            <a:ext cx="1828800" cy="548640"/>
          </a:xfrm>
          <a:prstGeom prst="rect">
            <a:avLst/>
          </a:prstGeom>
          <a:solidFill>
            <a:srgbClr val="C9A84C"/>
          </a:solidFill>
          <a:ln w="12700">
            <a:solidFill>
              <a:srgbClr val="C9A84C"/>
            </a:solidFill>
            <a:prstDash val="solid"/>
          </a:ln>
        </p:spPr>
      </p:sp>
      <p:sp>
        <p:nvSpPr>
          <p:cNvPr id="4" name="Text 2"/>
          <p:cNvSpPr/>
          <p:nvPr/>
        </p:nvSpPr>
        <p:spPr>
          <a:xfrm>
            <a:off x="5184648" y="1371600"/>
            <a:ext cx="1828800" cy="54864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المحاضرة 21</a:t>
            </a:r>
            <a:endParaRPr lang="en-US" sz="1400" dirty="0"/>
          </a:p>
        </p:txBody>
      </p:sp>
      <p:sp>
        <p:nvSpPr>
          <p:cNvPr id="5" name="Shape 3"/>
          <p:cNvSpPr/>
          <p:nvPr/>
        </p:nvSpPr>
        <p:spPr>
          <a:xfrm>
            <a:off x="7315200" y="1371600"/>
            <a:ext cx="1371600" cy="548640"/>
          </a:xfrm>
          <a:prstGeom prst="rect">
            <a:avLst/>
          </a:prstGeom>
          <a:solidFill>
            <a:srgbClr val="162338"/>
          </a:solidFill>
          <a:ln w="12700">
            <a:solidFill>
              <a:srgbClr val="C9A84C"/>
            </a:solidFill>
            <a:prstDash val="solid"/>
          </a:ln>
        </p:spPr>
      </p:sp>
      <p:sp>
        <p:nvSpPr>
          <p:cNvPr id="6" name="Text 4"/>
          <p:cNvSpPr/>
          <p:nvPr/>
        </p:nvSpPr>
        <p:spPr>
          <a:xfrm>
            <a:off x="7315200" y="1371600"/>
            <a:ext cx="1371600" cy="548640"/>
          </a:xfrm>
          <a:prstGeom prst="rect">
            <a:avLst/>
          </a:prstGeom>
          <a:noFill/>
          <a:ln/>
        </p:spPr>
        <p:txBody>
          <a:bodyPr wrap="square" rtlCol="0" anchor="ctr"/>
          <a:lstStyle/>
          <a:p>
            <a:pPr algn="ctr" indent="0" marL="0">
              <a:buNone/>
            </a:pPr>
            <a:r>
              <a:rPr lang="en-US" sz="1300" dirty="0">
                <a:solidFill>
                  <a:srgbClr val="C9A84C"/>
                </a:solidFill>
                <a:latin typeface="Arial" pitchFamily="34" charset="0"/>
                <a:ea typeface="Arial" pitchFamily="34" charset="-122"/>
                <a:cs typeface="Arial" pitchFamily="34" charset="-120"/>
              </a:rPr>
              <a:t>16 دقيقة</a:t>
            </a:r>
            <a:endParaRPr lang="en-US" sz="1300" dirty="0"/>
          </a:p>
        </p:txBody>
      </p:sp>
      <p:sp>
        <p:nvSpPr>
          <p:cNvPr id="7" name="Text 5"/>
          <p:cNvSpPr/>
          <p:nvPr/>
        </p:nvSpPr>
        <p:spPr>
          <a:xfrm>
            <a:off x="914400" y="2286000"/>
            <a:ext cx="10360152" cy="2286000"/>
          </a:xfrm>
          <a:prstGeom prst="rect">
            <a:avLst/>
          </a:prstGeom>
          <a:noFill/>
          <a:ln/>
        </p:spPr>
        <p:txBody>
          <a:bodyPr wrap="square" rtlCol="0" anchor="ctr"/>
          <a:lstStyle/>
          <a:p>
            <a:pPr rtl="1" algn="ctr" indent="0" marL="0">
              <a:buNone/>
            </a:pPr>
            <a:r>
              <a:rPr lang="en-US" sz="3600" b="1" dirty="0">
                <a:solidFill>
                  <a:srgbClr val="C9A84C"/>
                </a:solidFill>
                <a:latin typeface="Arial" pitchFamily="34" charset="0"/>
                <a:ea typeface="Arial" pitchFamily="34" charset="-122"/>
                <a:cs typeface="Arial" pitchFamily="34" charset="-120"/>
              </a:rPr>
              <a:t>خطة 30 يوماً لبناء عادات الإقناع التلقائية</a:t>
            </a:r>
            <a:endParaRPr lang="en-US" sz="3600" dirty="0"/>
          </a:p>
        </p:txBody>
      </p:sp>
      <p:sp>
        <p:nvSpPr>
          <p:cNvPr id="8" name="Text 6"/>
          <p:cNvSpPr/>
          <p:nvPr/>
        </p:nvSpPr>
        <p:spPr>
          <a:xfrm>
            <a:off x="0" y="6263640"/>
            <a:ext cx="12188952" cy="50292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Readhubs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خطة الـ 30 يوماً</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الأسبوع 1: الثقة والمظهر (مصافحة، ابتسامة، نظر، اسم)</a:t>
            </a:r>
            <a:endParaRPr lang="en-US" sz="2200" dirty="0"/>
          </a:p>
        </p:txBody>
      </p:sp>
      <p:sp>
        <p:nvSpPr>
          <p:cNvPr id="8" name="Shape 6"/>
          <p:cNvSpPr/>
          <p:nvPr/>
        </p:nvSpPr>
        <p:spPr>
          <a:xfrm>
            <a:off x="11430000" y="3215640"/>
            <a:ext cx="182880" cy="182880"/>
          </a:xfrm>
          <a:prstGeom prst="ellipse">
            <a:avLst/>
          </a:prstGeom>
          <a:solidFill>
            <a:srgbClr val="C9A84C"/>
          </a:solidFill>
          <a:ln/>
        </p:spPr>
      </p:sp>
      <p:sp>
        <p:nvSpPr>
          <p:cNvPr id="9" name="Text 7"/>
          <p:cNvSpPr/>
          <p:nvPr/>
        </p:nvSpPr>
        <p:spPr>
          <a:xfrm>
            <a:off x="457200" y="316992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الأسبوع 2: لغة الجسد (يدان، وقفة، مسافات)</a:t>
            </a:r>
            <a:endParaRPr lang="en-US" sz="2200" dirty="0"/>
          </a:p>
        </p:txBody>
      </p:sp>
      <p:sp>
        <p:nvSpPr>
          <p:cNvPr id="10" name="Shape 8"/>
          <p:cNvSpPr/>
          <p:nvPr/>
        </p:nvSpPr>
        <p:spPr>
          <a:xfrm>
            <a:off x="11430000" y="4922520"/>
            <a:ext cx="182880" cy="182880"/>
          </a:xfrm>
          <a:prstGeom prst="ellipse">
            <a:avLst/>
          </a:prstGeom>
          <a:solidFill>
            <a:srgbClr val="C9A84C"/>
          </a:solidFill>
          <a:ln/>
        </p:spPr>
      </p:sp>
      <p:sp>
        <p:nvSpPr>
          <p:cNvPr id="11" name="Text 9"/>
          <p:cNvSpPr/>
          <p:nvPr/>
        </p:nvSpPr>
        <p:spPr>
          <a:xfrm>
            <a:off x="457200" y="487680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الأسبوع 3: التقنيات الكلامية (نعم نعم، مرآة، أسئلة، فجوة)</a:t>
            </a:r>
            <a:endParaRPr lang="en-US" sz="2200" dirty="0"/>
          </a:p>
        </p:txBody>
      </p:sp>
      <p:sp>
        <p:nvSpPr>
          <p:cNvPr id="12" name="Shape 10"/>
          <p:cNvSpPr/>
          <p:nvPr/>
        </p:nvSpPr>
        <p:spPr>
          <a:xfrm>
            <a:off x="11430000" y="6629400"/>
            <a:ext cx="182880" cy="182880"/>
          </a:xfrm>
          <a:prstGeom prst="ellipse">
            <a:avLst/>
          </a:prstGeom>
          <a:solidFill>
            <a:srgbClr val="C9A84C"/>
          </a:solidFill>
          <a:ln/>
        </p:spPr>
      </p:sp>
      <p:sp>
        <p:nvSpPr>
          <p:cNvPr id="13" name="Text 11"/>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الأسبوع 4: تطبيقات حقيقية (مدير، عميل، شريك)</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سجل الإقناع اليومي</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كم مرة حاولت الإقناع اليوم؟</a:t>
            </a:r>
            <a:endParaRPr lang="en-US" sz="2200" dirty="0"/>
          </a:p>
        </p:txBody>
      </p:sp>
      <p:sp>
        <p:nvSpPr>
          <p:cNvPr id="8" name="Shape 6"/>
          <p:cNvSpPr/>
          <p:nvPr/>
        </p:nvSpPr>
        <p:spPr>
          <a:xfrm>
            <a:off x="11430000" y="2788920"/>
            <a:ext cx="182880" cy="182880"/>
          </a:xfrm>
          <a:prstGeom prst="ellipse">
            <a:avLst/>
          </a:prstGeom>
          <a:solidFill>
            <a:srgbClr val="C9A84C"/>
          </a:solidFill>
          <a:ln/>
        </p:spPr>
      </p:sp>
      <p:sp>
        <p:nvSpPr>
          <p:cNvPr id="9" name="Text 7"/>
          <p:cNvSpPr/>
          <p:nvPr/>
        </p:nvSpPr>
        <p:spPr>
          <a:xfrm>
            <a:off x="457200" y="274320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ما التقنية التي استخدمتها؟</a:t>
            </a:r>
            <a:endParaRPr lang="en-US" sz="2200" dirty="0"/>
          </a:p>
        </p:txBody>
      </p:sp>
      <p:sp>
        <p:nvSpPr>
          <p:cNvPr id="10" name="Shape 8"/>
          <p:cNvSpPr/>
          <p:nvPr/>
        </p:nvSpPr>
        <p:spPr>
          <a:xfrm>
            <a:off x="11430000" y="4069080"/>
            <a:ext cx="182880" cy="182880"/>
          </a:xfrm>
          <a:prstGeom prst="ellipse">
            <a:avLst/>
          </a:prstGeom>
          <a:solidFill>
            <a:srgbClr val="C9A84C"/>
          </a:solidFill>
          <a:ln/>
        </p:spPr>
      </p:sp>
      <p:sp>
        <p:nvSpPr>
          <p:cNvPr id="11" name="Text 9"/>
          <p:cNvSpPr/>
          <p:nvPr/>
        </p:nvSpPr>
        <p:spPr>
          <a:xfrm>
            <a:off x="457200" y="402336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ماذا كانت النتيجة؟</a:t>
            </a:r>
            <a:endParaRPr lang="en-US" sz="2200" dirty="0"/>
          </a:p>
        </p:txBody>
      </p:sp>
      <p:sp>
        <p:nvSpPr>
          <p:cNvPr id="12" name="Shape 10"/>
          <p:cNvSpPr/>
          <p:nvPr/>
        </p:nvSpPr>
        <p:spPr>
          <a:xfrm>
            <a:off x="11430000" y="5349240"/>
            <a:ext cx="182880" cy="182880"/>
          </a:xfrm>
          <a:prstGeom prst="ellipse">
            <a:avLst/>
          </a:prstGeom>
          <a:solidFill>
            <a:srgbClr val="C9A84C"/>
          </a:solidFill>
          <a:ln/>
        </p:spPr>
      </p:sp>
      <p:sp>
        <p:nvSpPr>
          <p:cNvPr id="13" name="Text 11"/>
          <p:cNvSpPr/>
          <p:nvPr/>
        </p:nvSpPr>
        <p:spPr>
          <a:xfrm>
            <a:off x="457200" y="530352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شيء جيد فعلته</a:t>
            </a:r>
            <a:endParaRPr lang="en-US" sz="2200" dirty="0"/>
          </a:p>
        </p:txBody>
      </p:sp>
      <p:sp>
        <p:nvSpPr>
          <p:cNvPr id="14" name="Shape 12"/>
          <p:cNvSpPr/>
          <p:nvPr/>
        </p:nvSpPr>
        <p:spPr>
          <a:xfrm>
            <a:off x="11430000" y="6629400"/>
            <a:ext cx="182880" cy="182880"/>
          </a:xfrm>
          <a:prstGeom prst="ellipse">
            <a:avLst/>
          </a:prstGeom>
          <a:solidFill>
            <a:srgbClr val="C9A84C"/>
          </a:solidFill>
          <a:ln/>
        </p:spPr>
      </p:sp>
      <p:sp>
        <p:nvSpPr>
          <p:cNvPr id="15" name="Text 13"/>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شيء يمكن تحسينه غداً</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457200"/>
            <a:ext cx="12188952" cy="1645920"/>
          </a:xfrm>
          <a:prstGeom prst="rect">
            <a:avLst/>
          </a:prstGeom>
          <a:solidFill>
            <a:srgbClr val="C9A84C"/>
          </a:solidFill>
          <a:ln/>
        </p:spPr>
      </p:sp>
      <p:sp>
        <p:nvSpPr>
          <p:cNvPr id="3" name="Text 1"/>
          <p:cNvSpPr/>
          <p:nvPr/>
        </p:nvSpPr>
        <p:spPr>
          <a:xfrm>
            <a:off x="0" y="457200"/>
            <a:ext cx="12188952" cy="1645920"/>
          </a:xfrm>
          <a:prstGeom prst="rect">
            <a:avLst/>
          </a:prstGeom>
          <a:noFill/>
          <a:ln/>
        </p:spPr>
        <p:txBody>
          <a:bodyPr wrap="square" rtlCol="0" anchor="ctr"/>
          <a:lstStyle/>
          <a:p>
            <a:pPr rtl="1" algn="ctr" indent="0" marL="0">
              <a:buNone/>
            </a:pPr>
            <a:r>
              <a:rPr lang="en-US" sz="3200" b="1" dirty="0">
                <a:solidFill>
                  <a:srgbClr val="0F1B2D"/>
                </a:solidFill>
                <a:latin typeface="Arial" pitchFamily="34" charset="0"/>
                <a:ea typeface="Arial" pitchFamily="34" charset="-122"/>
                <a:cs typeface="Arial" pitchFamily="34" charset="-120"/>
              </a:rPr>
              <a:t>التمرين العملي</a:t>
            </a:r>
            <a:endParaRPr lang="en-US" sz="3200" dirty="0"/>
          </a:p>
        </p:txBody>
      </p:sp>
      <p:sp>
        <p:nvSpPr>
          <p:cNvPr id="4" name="Text 2"/>
          <p:cNvSpPr/>
          <p:nvPr/>
        </p:nvSpPr>
        <p:spPr>
          <a:xfrm>
            <a:off x="914400" y="2377440"/>
            <a:ext cx="10360152" cy="4023360"/>
          </a:xfrm>
          <a:prstGeom prst="rect">
            <a:avLst/>
          </a:prstGeom>
          <a:noFill/>
          <a:ln/>
        </p:spPr>
        <p:txBody>
          <a:bodyPr wrap="square" rtlCol="0" anchor="t"/>
          <a:lstStyle/>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الأسبوع 1: الثقة والمظهر (مصافحة، ابتسامة، نظر، اسم)</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الأسبوع 2: لغة الجسد (يدان، وقفة، مسافات)</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الأسبوع 3: التقنيات الكلامية (نعم نعم، مرآة، أسئلة، فجوة)</a:t>
            </a:r>
            <a:endParaRPr lang="en-US" sz="2000" dirty="0"/>
          </a:p>
        </p:txBody>
      </p:sp>
      <p:sp>
        <p:nvSpPr>
          <p:cNvPr id="5" name="Shape 3"/>
          <p:cNvSpPr/>
          <p:nvPr/>
        </p:nvSpPr>
        <p:spPr>
          <a:xfrm>
            <a:off x="0" y="6537960"/>
            <a:ext cx="12188952" cy="320040"/>
          </a:xfrm>
          <a:prstGeom prst="rect">
            <a:avLst/>
          </a:prstGeom>
          <a:solidFill>
            <a:srgbClr val="C9A84C"/>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3000" b="1" dirty="0">
                <a:solidFill>
                  <a:srgbClr val="C9A84C"/>
                </a:solidFill>
                <a:latin typeface="Arial" pitchFamily="34" charset="0"/>
                <a:ea typeface="Arial" pitchFamily="34" charset="-122"/>
                <a:cs typeface="Arial" pitchFamily="34" charset="-120"/>
              </a:rPr>
              <a:t>ما تعلمناه اليوم</a:t>
            </a:r>
            <a:endParaRPr lang="en-US" sz="3000" dirty="0"/>
          </a:p>
        </p:txBody>
      </p:sp>
      <p:sp>
        <p:nvSpPr>
          <p:cNvPr id="5" name="Shape 3"/>
          <p:cNvSpPr/>
          <p:nvPr/>
        </p:nvSpPr>
        <p:spPr>
          <a:xfrm>
            <a:off x="10972800" y="1737360"/>
            <a:ext cx="640080" cy="548640"/>
          </a:xfrm>
          <a:prstGeom prst="rect">
            <a:avLst/>
          </a:prstGeom>
          <a:solidFill>
            <a:srgbClr val="C9A84C"/>
          </a:solidFill>
          <a:ln/>
        </p:spPr>
      </p:sp>
      <p:sp>
        <p:nvSpPr>
          <p:cNvPr id="6" name="Text 4"/>
          <p:cNvSpPr/>
          <p:nvPr/>
        </p:nvSpPr>
        <p:spPr>
          <a:xfrm>
            <a:off x="10972800" y="173736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457200" y="173736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الآن السؤال: كيف تحول هذه المعرفة إلى عادات تلقائية</a:t>
            </a:r>
            <a:endParaRPr lang="en-US" sz="2000" dirty="0"/>
          </a:p>
        </p:txBody>
      </p:sp>
      <p:sp>
        <p:nvSpPr>
          <p:cNvPr id="8" name="Shape 6"/>
          <p:cNvSpPr/>
          <p:nvPr/>
        </p:nvSpPr>
        <p:spPr>
          <a:xfrm>
            <a:off x="10972800" y="3017520"/>
            <a:ext cx="640080" cy="548640"/>
          </a:xfrm>
          <a:prstGeom prst="rect">
            <a:avLst/>
          </a:prstGeom>
          <a:solidFill>
            <a:srgbClr val="C9A84C"/>
          </a:solidFill>
          <a:ln/>
        </p:spPr>
      </p:sp>
      <p:sp>
        <p:nvSpPr>
          <p:cNvPr id="9" name="Text 7"/>
          <p:cNvSpPr/>
          <p:nvPr/>
        </p:nvSpPr>
        <p:spPr>
          <a:xfrm>
            <a:off x="10972800" y="301752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2</a:t>
            </a:r>
            <a:endParaRPr lang="en-US" sz="1800" dirty="0"/>
          </a:p>
        </p:txBody>
      </p:sp>
      <p:sp>
        <p:nvSpPr>
          <p:cNvPr id="10" name="Text 8"/>
          <p:cNvSpPr/>
          <p:nvPr/>
        </p:nvSpPr>
        <p:spPr>
          <a:xfrm>
            <a:off x="457200" y="301752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الأسبوع الثالث (الأيام 15-21): التقنيات الكلامية</a:t>
            </a:r>
            <a:endParaRPr lang="en-US" sz="2000" dirty="0"/>
          </a:p>
        </p:txBody>
      </p:sp>
      <p:sp>
        <p:nvSpPr>
          <p:cNvPr id="11" name="Shape 9"/>
          <p:cNvSpPr/>
          <p:nvPr/>
        </p:nvSpPr>
        <p:spPr>
          <a:xfrm>
            <a:off x="10972800" y="4297680"/>
            <a:ext cx="640080" cy="548640"/>
          </a:xfrm>
          <a:prstGeom prst="rect">
            <a:avLst/>
          </a:prstGeom>
          <a:solidFill>
            <a:srgbClr val="C9A84C"/>
          </a:solidFill>
          <a:ln/>
        </p:spPr>
      </p:sp>
      <p:sp>
        <p:nvSpPr>
          <p:cNvPr id="12" name="Text 10"/>
          <p:cNvSpPr/>
          <p:nvPr/>
        </p:nvSpPr>
        <p:spPr>
          <a:xfrm>
            <a:off x="10972800" y="429768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3</a:t>
            </a:r>
            <a:endParaRPr lang="en-US" sz="1800" dirty="0"/>
          </a:p>
        </p:txBody>
      </p:sp>
      <p:sp>
        <p:nvSpPr>
          <p:cNvPr id="13" name="Text 11"/>
          <p:cNvSpPr/>
          <p:nvPr/>
        </p:nvSpPr>
        <p:spPr>
          <a:xfrm>
            <a:off x="457200" y="429768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الأيام 26-27: تدرب على إقناع شريك حياتك أو صديق (حقيقي)</a:t>
            </a:r>
            <a:endParaRPr lang="en-US" sz="2000" dirty="0"/>
          </a:p>
        </p:txBody>
      </p:sp>
      <p:sp>
        <p:nvSpPr>
          <p:cNvPr id="14" name="Shape 12"/>
          <p:cNvSpPr/>
          <p:nvPr/>
        </p:nvSpPr>
        <p:spPr>
          <a:xfrm>
            <a:off x="0" y="6537960"/>
            <a:ext cx="12188952" cy="320040"/>
          </a:xfrm>
          <a:prstGeom prst="rect">
            <a:avLst/>
          </a:prstGeom>
          <a:solidFill>
            <a:srgbClr val="C9A84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2026-06-13T14:16:03Z</dcterms:created>
  <dcterms:modified xsi:type="dcterms:W3CDTF">2026-06-13T14:16:03Z</dcterms:modified>
</cp:coreProperties>
</file>