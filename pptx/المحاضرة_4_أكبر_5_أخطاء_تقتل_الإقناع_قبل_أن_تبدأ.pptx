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قبل أن نتعلم ما يجب فعله، دعني أخبرك بما يجب ألا تفعله أبداً. هذه الأخطاء الخمسة هي سبب فشل 90% من محاولات الإقناع. والأغرب أن معظمنا يقع فيها يومياً دون أن يدري.
الخطأ الأول: التحدث أكثر من الاستماع. وأعني بكثرة أن تتحدث أنت 80% من الوقت وتترك 20% فقط للطرف الآخر. العلماء درسوا المفاوضين الناجحين. وجدوا أنهم يستمعون 57% من الوقت ويتحدثون 43%. لأنك عندما تستمع، تفهم احتياجات الطرف الآخر. وعندما تفهم، تستطيع أن تصمم رسالتك الإقناعية بدقة. حل هذا الخطأ: اجعل الطرف الآخر يتحدث أولاً. اسأله: "ما رأيك؟" و"كيف ترى هذا الموضوع؟" قبل أن تطرح فكرتك.
الخطأ الثاني: استخدام كلمة "لكن". هذه كلمة قاتلة للإقناع. مثلاً: "أتفهم وجهة نظرك، لكن رأيي مختلف". عندما يقول الشخص "لكن"، يمسح كل ما قاله قبلها. بدلاً من "لكن"، استخدم "وفي نفس الوقت". جرب: "أتفهم وجهة نظرك، وفي نفس الوقت أرى أن هناك طريقة أخرى". الفرق شاسع. الأولى تخلق صراعاً. الثانية تخلق مساحة للحوار.
الخطأ الثالث: محاولة إثبات أن الطرف الآخر مخطئ. لا تفعل هذا أبداً. عندما تقول لشخص "أنت غلطان"، عقله يدخل في وضع دفاعي. يصبح هدفه إثبات أنه على صواب، وليس الاستماع إليك. بدلاً من ذلك، قل: "هذه وجهة نظر مثيرة للاهتمام. دعني أشاركك كيف وصلت أنا إلى استنتاج مختلف". أنت لا تقول إنه غلطان، بل تقول إن هناك طرقاً مختلفة للرؤية.
الخطأ الرابع: تقديم كل الحجج دفعة واحدة. بعض الناس يعتقدون أن كثرة الكلام تقنع. العكس صحيح. عندما تعطي 10 أسباب لشراء منتجك، العقل يصاب بالشلل. دراسات في علم النفس تقول: 3 أسباب فقط هي العدد المثالي للإقناع. أعط ثلاثة أسباب قوية، وتوقف. إذا طلب المزيد، أعطِ المزيد.
الخطأ الخامس: نسيان أن الإقناع ليس معركة. كثيرون يدخلون محاولة الإقناع وهم في حالة "إما أنت تقتنع أو أنا". هذه عقلية خاسرة. الإقناع الناجح ينتهي بأن يشعر الطرفان بالفوز. أنت حصلت على ما تريد، وهو حصل على شيء ذي قيمة أيضاً. قبل أن تبدأ بأي محاولة إقناع، اسأل نفسك: "ما الذي سيستفيده الطرف الآخر من هذا القرار؟" إذا لم تجد إجابة، لا تبدأ.
الآن تمرين عملي: اختر موقفاً من مواقفك الثلاثة. تذكر كيف حاولت الإقناع. هل وقعت في أي من هذه الأخطاء؟ الأغلب أنك وقعت في خطأين على الأقل. اكتبها. ثم فكر: كيف كان يمكنك التحدث بشكل مختلف لو تجنبت هذا الخطأ؟
أعطيك مثالاً: سامر حاول إقناع مديره بترقية. قال: "أنا أستحق الترقية لأنني أنجزت كذا وكذا (تحدث 10 دقائق)، لكن في نفس الوقت أفهم ظروف الشركة". الخطأ الأول: تكلم كثيراً. الثاني: استخدم "لكن". لو قال بدلاً من ذلك: "مديري العزيز، ما هي المعايير التي تنظر إليها للترقية؟" يستمع للإجابة. ثم يقول: "بناءً على هذه المعايير، دعوني أشارككم 3 إنجازات حققتها هذا العام. هل ترى أن هذا يؤهلني؟" فرق شاسع.
حفظ هذه الأخطاء الخمسة. اكتبها على ورقة صغيرة وضعها أمامك على مكتبك:
1. تتحدث أكثر مما تستمع.
2. تستخدم كلمة "لكن".
3. تحاول إثبات أن الطرف الآخر مخطئ.
4. تقدم حججاً كثيرة دفعة واحدة.
5. تتعامل مع الإقناع كمعركة.
في نهاية هذه المحاضرة، أريدك أن تلتزم: في كل محادثة إقناع خلال الأيام الثلاثة القادمة، تجنب خطأ واحداً فقط. اختر خطأ واحداً وركز عليه. بعد ثلاثة أيام، انتقل للخطأ التالي. خلال 15 يوماً، ستتخلص من كل هذه الأخطاء.
وفي القسم الثاني من كورسنا، سننتقل من "ما لا تفعله" إلى "ما تفعله بالضبط". سنتعلم كيف تبني ثقة فورية في أول 30 ثانية من أي لقاء. هذه المهارة وحدها ستغير حياتك. تابعني في المحاضرة القادمة.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قبل أن نتعلم ما يجب فعله، دعني أخبرك بما يجب ألا تفعله أبداً. هذه الأخطاء الخمسة هي سبب فشل 90% من محاولات الإقناع. والأغرب أن معظمنا يقع فيها يومياً دون أن يدري.
الخطأ الأول: التحدث أكثر من الاستماع. وأعني بكثرة أن تتحدث أنت 80% من الوقت وتترك 20% فقط للطرف الآخر. العلماء درسوا المفاوضين الناجحين. وجدوا أنهم يستمعون 57% من الوقت ويتحدثون 43%. لأنك عندما تستمع، تفهم احتياجات الطرف الآخر. وعندما تفهم، تستطيع أن تصمم رسالتك الإقناعية بدقة. حل هذا الخطأ: اجعل الطرف الآخر يتحدث أولاً. اسأله: "ما رأيك؟" و"كيف ترى هذا الموضوع؟" قبل أن تطرح فكرتك.
الخطأ الثاني: استخدام كلمة "لكن". هذه كلمة قاتلة للإقناع. مثلاً: "أتفهم وجهة نظرك، لكن رأيي مختلف". عندما يقول الشخص "لكن"، يمسح كل ما قاله قبلها. بدلاً من "لكن"، استخدم "وفي نفس الوقت". جرب: "أتفهم وجهة نظرك، وفي نفس الوقت أرى أن هناك طريقة أخرى". الفرق شاسع. الأولى تخلق صراعاً. الثانية تخلق مساحة للحوار.
الخطأ الثالث: محاولة إثبات أن الطرف الآخر مخطئ. لا تفعل هذا أبداً. عندما تقول لشخص "أنت غلطان"، عقله يدخل في وضع دفاعي. يصبح هدفه إثبات أنه على صواب، وليس الاستماع إليك. بدلاً من ذلك، قل: "هذه وجهة نظر مثيرة للاهتمام. دعني أشاركك كيف وصلت أنا إلى استنتاج مختلف". أنت لا تقول إنه غلطان، بل تقول إن هناك طرقاً مختلفة للرؤية.
الخطأ الرابع: تقديم كل الحجج دفعة واحدة. بعض الناس يعتقدون أن كثرة الكلام تقنع. العكس صحيح. عندما تعطي 10 أسباب لشراء منتجك، العقل يصاب بالشلل. دراسات في علم النفس تقول: 3 أسباب فقط هي العدد المثالي للإقناع. أعط ثلاثة أسباب قوية، وتوقف. إذا طلب المزيد، أعطِ المزيد.
الخطأ الخامس: نسيان أن الإقناع ليس معركة. كثيرون يدخلون محاولة الإقناع وهم في حالة "إما أنت تقتنع أو أنا". هذه عقلية خاسرة. الإقناع الناجح ينتهي بأن يشعر الطرفان بالفوز. أنت حصلت على ما تريد، وهو حصل على شيء ذي قيمة أيضاً. قبل أن تبدأ بأي محاولة إقناع، اسأل نفسك: "ما الذي سيستفيده الطرف الآخر من هذا القرار؟" إذا لم تجد إجابة، لا تبدأ.
الآن تمرين عملي: اختر موقفاً من مواقفك الثلاثة. تذكر كيف حاولت الإقناع. هل وقعت في أي من هذه الأخطاء؟ الأغلب أنك وقعت في خطأين على الأقل. اكتبها. ثم فكر: كيف كان يمكنك التحدث بشكل مختلف لو تجنبت هذا الخطأ؟
أعطيك مثالاً: سامر حاول إقناع مديره بترقية. قال: "أنا أستحق الترقية لأنني أنجزت كذا وكذا (تحدث 10 دقائق)، لكن في نفس الوقت أفهم ظروف الشركة". الخطأ الأول: تكلم كثيراً. الثاني: استخدم "لكن". لو قال بدلاً من ذلك: "مديري العزيز، ما هي المعايير التي تنظر إليها للترقية؟" يستمع للإجابة. ثم يقول: "بناءً على هذه المعايير، دعوني أشارككم 3 إنجازات حققتها هذا العام. هل ترى أن هذا يؤهلني؟" فرق شاسع.
حفظ هذه الأخطاء الخمسة. اكتبها على ورقة صغيرة وضعها أمامك على مكتبك:
1. تتحدث أكثر مما تستمع.
2. تستخدم كلمة "لكن".
3. تحاول إثبات أن الطرف الآخر مخطئ.
4. تقدم حججاً كثيرة دفعة واحدة.
5. تتعامل مع الإقناع كمعركة.
في نهاية هذه المحاضرة، أريدك أن تلتزم: في كل محادثة إقناع خلال الأيام الثلاثة القادمة، تجنب خطأ واحداً فقط. اختر خطأ واحداً وركز عليه. بعد ثلاثة أيام، انتقل للخطأ التالي. خلال 15 يوماً، ستتخلص من كل هذه الأخطاء.
وفي القسم الثاني من كورسنا، سننتقل من "ما لا تفعله" إلى "ما تفعله بالضبط". سنتعلم كيف تبني ثقة فورية في أول 30 ثانية من أي لقاء. هذه المهارة وحدها ستغير حياتك. تابعني في المحاضرة القادمة.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قبل أن نتعلم ما يجب فعله، دعني أخبرك بما يجب ألا تفعله أبداً. هذه الأخطاء الخمسة هي سبب فشل 90% من محاولات الإقناع. والأغرب أن معظمنا يقع فيها يومياً دون أن يدري.
الخطأ الأول: التحدث أكثر من الاستماع. وأعني بكثرة أن تتحدث أنت 80% من الوقت وتترك 20% فقط للطرف الآخر. العلماء درسوا المفاوضين الناجحين. وجدوا أنهم يستمعون 57% من الوقت ويتحدثون 43%. لأنك عندما تستمع، تفهم احتياجات الطرف الآخر. وعندما تفهم، تستطيع أن تصمم رسالتك الإقناعية بدقة. حل هذا الخطأ: اجعل الطرف الآخر يتحدث أولاً. اسأله: "ما رأيك؟" و"كيف ترى هذا الموضوع؟" قبل أن تطرح فكرتك.
الخطأ الثاني: استخدام كلمة "لكن". هذه كلمة قاتلة للإقناع. مثلاً: "أتفهم وجهة نظرك، لكن رأيي مختلف". عندما يقول الشخص "لكن"، يمسح كل ما قاله قبلها. بدلاً من "لكن"، استخدم "وفي نفس الوقت". جرب: "أتفهم وجهة نظرك، وفي نفس الوقت أرى أن هناك طريقة أخرى". الفرق شاسع. الأولى تخلق صراعاً. الثانية تخلق مساحة للحوار.
الخطأ الثالث: محاولة إثبات أن الطرف الآخر مخطئ. لا تفعل هذا أبداً. عندما تقول لشخص "أنت غلطان"، عقله يدخل في وضع دفاعي. يصبح هدفه إثبات أنه على صواب، وليس الاستماع إليك. بدلاً من ذلك، قل: "هذه وجهة نظر مثيرة للاهتمام. دعني أشاركك كيف وصلت أنا إلى استنتاج مختلف". أنت لا تقول إنه غلطان، بل تقول إن هناك طرقاً مختلفة للرؤية.
الخطأ الرابع: تقديم كل الحجج دفعة واحدة. بعض الناس يعتقدون أن كثرة الكلام تقنع. العكس صحيح. عندما تعطي 10 أسباب لشراء منتجك، العقل يصاب بالشلل. دراسات في علم النفس تقول: 3 أسباب فقط هي العدد المثالي للإقناع. أعط ثلاثة أسباب قوية، وتوقف. إذا طلب المزيد، أعطِ المزيد.
الخطأ الخامس: نسيان أن الإقناع ليس معركة. كثيرون يدخلون محاولة الإقناع وهم في حالة "إما أنت تقتنع أو أنا". هذه عقلية خاسرة. الإقناع الناجح ينتهي بأن يشعر الطرفان بالفوز. أنت حصلت على ما تريد، وهو حصل على شيء ذي قيمة أيضاً. قبل أن تبدأ بأي محاولة إقناع، اسأل نفسك: "ما الذي سيستفيده الطرف الآخر من هذا القرار؟" إذا لم تجد إجابة، لا تبدأ.
الآن تمرين عملي: اختر موقفاً من مواقفك الثلاثة. تذكر كيف حاولت الإقناع. هل وقعت في أي من هذه الأخطاء؟ الأغلب أنك وقعت في خطأين على الأقل. اكتبها. ثم فكر: كيف كان يمكنك التحدث بشكل مختلف لو تجنبت هذا الخطأ؟
أعطيك مثالاً: سامر حاول إقناع مديره بترقية. قال: "أنا أستحق الترقية لأنني أنجزت كذا وكذا (تحدث 10 دقائق)، لكن في نفس الوقت أفهم ظروف الشركة". الخطأ الأول: تكلم كثيراً. الثاني: استخدم "لكن". لو قال بدلاً من ذلك: "مديري العزيز، ما هي المعايير التي تنظر إليها للترقية؟" يستمع للإجابة. ثم يقول: "بناءً على هذه المعايير، دعوني أشارككم 3 إنجازات حققتها هذا العام. هل ترى أن هذا يؤهلني؟" فرق شاسع.
حفظ هذه الأخطاء الخمسة. اكتبها على ورقة صغيرة وضعها أمامك على مكتبك:
1. تتحدث أكثر مما تستمع.
2. تستخدم كلمة "لكن".
3. تحاول إثبات أن الطرف الآخر مخطئ.
4. تقدم حججاً كثيرة دفعة واحدة.
5. تتعامل مع الإقناع كمعركة.
في نهاية هذه المحاضرة، أريدك أن تلتزم: في كل محادثة إقناع خلال الأيام الثلاثة القادمة، تجنب خطأ واحداً فقط. اختر خطأ واحداً وركز عليه. بعد ثلاثة أيام، انتقل للخطأ التالي. خلال 15 يوماً، ستتخلص من كل هذه الأخطاء.
وفي القسم الثاني من كورسنا، سننتقل من "ما لا تفعله" إلى "ما تفعله بالضبط". سنتعلم كيف تبني ثقة فورية في أول 30 ثانية من أي لقاء. هذه المهارة وحدها ستغير حياتك. تابعني في المحاضرة القادمة.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قبل أن نتعلم ما يجب فعله، دعني أخبرك بما يجب ألا تفعله أبداً. هذه الأخطاء الخمسة هي سبب فشل 90% من محاولات الإقناع. والأغرب أن معظمنا يقع فيها يومياً دون أن يدري.
الخطأ الأول: التحدث أكثر من الاستماع. وأعني بكثرة أن تتحدث أنت 80% من الوقت وتترك 20% فقط للطرف الآخر. العلماء درسوا المفاوضين الناجحين. وجدوا أنهم يستمعون 57% من الوقت ويتحدثون 43%. لأنك عندما تستمع، تفهم احتياجات الطرف الآخر. وعندما تفهم، تستطيع أن تصمم رسالتك الإقناعية بدقة. حل هذا الخطأ: اجعل الطرف الآخر يتحدث أولاً. اسأله: "ما رأيك؟" و"كيف ترى هذا الموضوع؟" قبل أن تطرح فكرتك.
الخطأ الثاني: استخدام كلمة "لكن". هذه كلمة قاتلة للإقناع. مثلاً: "أتفهم وجهة نظرك، لكن رأيي مختلف". عندما يقول الشخص "لكن"، يمسح كل ما قاله قبلها. بدلاً من "لكن"، استخدم "وفي نفس الوقت". جرب: "أتفهم وجهة نظرك، وفي نفس الوقت أرى أن هناك طريقة أخرى". الفرق شاسع. الأولى تخلق صراعاً. الثانية تخلق مساحة للحوار.
الخطأ الثالث: محاولة إثبات أن الطرف الآخر مخطئ. لا تفعل هذا أبداً. عندما تقول لشخص "أنت غلطان"، عقله يدخل في وضع دفاعي. يصبح هدفه إثبات أنه على صواب، وليس الاستماع إليك. بدلاً من ذلك، قل: "هذه وجهة نظر مثيرة للاهتمام. دعني أشاركك كيف وصلت أنا إلى استنتاج مختلف". أنت لا تقول إنه غلطان، بل تقول إن هناك طرقاً مختلفة للرؤية.
الخطأ الرابع: تقديم كل الحجج دفعة واحدة. بعض الناس يعتقدون أن كثرة الكلام تقنع. العكس صحيح. عندما تعطي 10 أسباب لشراء منتجك، العقل يصاب بالشلل. دراسات في علم النفس تقول: 3 أسباب فقط هي العدد المثالي للإقناع. أعط ثلاثة أسباب قوية، وتوقف. إذا طلب المزيد، أعطِ المزيد.
الخطأ الخامس: نسيان أن الإقناع ليس معركة. كثيرون يدخلون محاولة الإقناع وهم في حالة "إما أنت تقتنع أو أنا". هذه عقلية خاسرة. الإقناع الناجح ينتهي بأن يشعر الطرفان بالفوز. أنت حصلت على ما تريد، وهو حصل على شيء ذي قيمة أيضاً. قبل أن تبدأ بأي محاولة إقناع، اسأل نفسك: "ما الذي سيستفيده الطرف الآخر من هذا القرار؟" إذا لم تجد إجابة، لا تبدأ.
الآن تمرين عملي: اختر موقفاً من مواقفك الثلاثة. تذكر كيف حاولت الإقناع. هل وقعت في أي من هذه الأخطاء؟ الأغلب أنك وقعت في خطأين على الأقل. اكتبها. ثم فكر: كيف كان يمكنك التحدث بشكل مختلف لو تجنبت هذا الخطأ؟
أعطيك مثالاً: سامر حاول إقناع مديره بترقية. قال: "أنا أستحق الترقية لأنني أنجزت كذا وكذا (تحدث 10 دقائق)، لكن في نفس الوقت أفهم ظروف الشركة". الخطأ الأول: تكلم كثيراً. الثاني: استخدم "لكن". لو قال بدلاً من ذلك: "مديري العزيز، ما هي المعايير التي تنظر إليها للترقية؟" يستمع للإجابة. ثم يقول: "بناءً على هذه المعايير، دعوني أشارككم 3 إنجازات حققتها هذا العام. هل ترى أن هذا يؤهلني؟" فرق شاسع.
حفظ هذه الأخطاء الخمسة. اكتبها على ورقة صغيرة وضعها أمامك على مكتبك:
1. تتحدث أكثر مما تستمع.
2. تستخدم كلمة "لكن".
3. تحاول إثبات أن الطرف الآخر مخطئ.
4. تقدم حججاً كثيرة دفعة واحدة.
5. تتعامل مع الإقناع كمعركة.
في نهاية هذه المحاضرة، أريدك أن تلتزم: في كل محادثة إقناع خلال الأيام الثلاثة القادمة، تجنب خطأ واحداً فقط. اختر خطأ واحداً وركز عليه. بعد ثلاثة أيام، انتقل للخطأ التالي. خلال 15 يوماً، ستتخلص من كل هذه الأخطاء.
وفي القسم الثاني من كورسنا، سننتقل من "ما لا تفعله" إلى "ما تفعله بالضبط". سنتعلم كيف تبني ثقة فورية في أول 30 ثانية من أي لقاء. هذه المهارة وحدها ستغير حياتك. تابعني في المحاضرة القادمة.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ملخص المحاضرة 4: أكبر 5 أخطاء تقتل الإقناع قبل أن تبدأ
قبل أن نتعلم ما يجب فعله، دعني أخبرك بما يجب ألا تفعله أبداً. هذه الأخطاء الخمسة هي سبب فشل 90% من محاولات الإقناع. والأغرب أن معظمنا يقع فيها يومياً دون أن يدري.
الخطأ الأول: التحدث أكثر من الاستماع. وأعني بكثرة أن تتحدث أنت 80% من الوقت وتترك 20% فقط للطرف الآخر. العلماء درسوا المفاوضين الناجحين. وجدوا أنهم يستمعون 57% من الوقت ويتحدثون 43%. لأنك عندما تستمع، تفهم احتياجات الطرف الآخر. وعندما تفهم، تستطيع أن تصمم رسالتك الإقناعية بدقة. حل هذا الخطأ: اجعل الطرف الآخر يتحدث أولاً. اسأله: "ما رأيك؟" و"كيف ترى هذا الموضوع؟" قبل أن تطرح فكرتك.
الخطأ الثاني: استخدام كلمة "لكن". هذه كلمة قاتلة للإقناع. مثلاً: "أتفهم وجهة نظرك، لكن رأيي مختلف". عندما يقول الشخص "لكن"، يمسح كل ما قاله قبلها. بدلاً من "لكن"، استخدم "وفي نفس الوقت". جرب: "أتفهم وجهة نظرك، وفي نفس الوقت أرى أن هناك طريقة أخرى". الفرق شاسع. الأولى تخلق صراعاً. الثانية تخلق مساحة للحوار.
الخطأ الثالث: محاولة إثبات أن الطرف الآخر مخطئ. لا تفعل هذا أبداً. عندما تقول لشخص "أنت غلطان"، عقله يدخل في وضع دفاعي. يصبح هدفه إثبات أنه على صواب، وليس الاستماع إليك. بدلاً من ذلك، قل: "هذه وجهة نظر مثيرة للاهتمام. دعني أشاركك كيف وصلت أنا إلى استنتاج مختلف". أنت لا تقول إنه غلطان، بل تقول إن هناك طرقاً مختلفة للرؤية.
الخطأ الرابع: تقديم كل الحجج دفعة واحدة. بعض الناس يعتقدون أن كثرة الكلام تقنع. العكس صحيح. عندما تعطي 10 أسباب لشراء منتجك، العقل يصاب بالشلل. دراسات في علم النفس تقول: 3 أسباب فقط هي العدد المثالي للإقناع. أعط ثلاثة أسباب قوية، وتوقف. إذا طلب المزيد، أعطِ المزيد.
الخطأ الخامس: نسيان أن الإقناع ليس معركة. كثيرون يدخلون محاولة الإقناع وهم في حالة "إما أنت تقتنع أو أنا". هذه عقلية خاسرة. الإقناع الناجح ينتهي بأن يشعر الطرفان بالفوز. أنت حصلت على ما تريد، وهو حصل على شيء ذي قيمة أيضاً. قبل أن تبدأ بأي محاولة إقناع، اسأل نفسك: "ما الذي سيستفيده الطرف الآخر من هذا القرار؟" إذا لم تجد إجابة، لا تبدأ.
الآن تمرين عملي: اختر موقفاً من مواقفك الثلاثة. تذكر كيف حاولت الإقناع. هل وقعت في أي من هذه الأخطاء؟ الأغلب أنك وقعت في خطأين على الأقل. اكتبها. ثم فكر: كيف كان يمكنك التحدث بشكل مختلف لو تجنبت هذا الخطأ؟
أعطيك مثالاً: سامر حاول إقناع مديره بترقية. قال: "أنا أستحق الترقية لأنني أنجزت كذا وكذا (تحدث 10 دقائق)، لكن في نفس الوقت أفهم ظروف الشركة". الخطأ الأول: تكلم كثيراً. الثاني: استخدم "لكن". لو قال بدلاً من ذلك: "مديري العزيز، ما هي المعايير التي تنظر إليها للترقية؟" يستمع للإجابة. ثم يقول: "بناءً على هذه المعايير، دعوني أشارككم 3 إنجازات حققتها هذا العام. هل ترى أن هذا يؤهلني؟" فرق شاسع.
حفظ هذه الأخطاء الخمسة. اكتبها على ورقة صغيرة وضعها أمامك على مكتبك:
1. تتحدث أكثر مما تستمع.
2. تستخدم كلمة "لكن".
3. تحاول إثبات أن الطرف الآخر مخطئ.
4. تقدم حججاً كثيرة دفعة واحدة.
5. تتعامل مع الإقناع كمعركة.
في نهاية هذه المحاضرة، أريدك أن تلتزم: في كل محادثة إقناع خلال الأيام الثلاثة القادمة، تجنب خطأ واحداً فقط. اختر خطأ واحداً وركز عليه. بعد ثلاثة أيام، انتقل للخطأ التالي. خلال 15 يوماً، ستتخلص من كل هذه الأخطاء.
وفي القسم الثاني من كورسنا، سننتقل من "ما لا تفعله" إلى "ما تفعله بالضبط". سنتعلم كيف تبني ثقة فورية في أول 30 ثانية من أي لقاء. هذه المهارة وحدها ستغير حياتك. تابعني في المحاضرة القادمة.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6217920"/>
            <a:ext cx="12188952" cy="640080"/>
          </a:xfrm>
          <a:prstGeom prst="rect">
            <a:avLst/>
          </a:prstGeom>
          <a:solidFill>
            <a:srgbClr val="C9A84C"/>
          </a:solidFill>
          <a:ln/>
        </p:spPr>
      </p:sp>
      <p:sp>
        <p:nvSpPr>
          <p:cNvPr id="3" name="Shape 1"/>
          <p:cNvSpPr/>
          <p:nvPr/>
        </p:nvSpPr>
        <p:spPr>
          <a:xfrm>
            <a:off x="5184648" y="1371600"/>
            <a:ext cx="1828800" cy="548640"/>
          </a:xfrm>
          <a:prstGeom prst="rect">
            <a:avLst/>
          </a:prstGeom>
          <a:solidFill>
            <a:srgbClr val="C9A84C"/>
          </a:solidFill>
          <a:ln w="12700">
            <a:solidFill>
              <a:srgbClr val="C9A84C"/>
            </a:solidFill>
            <a:prstDash val="solid"/>
          </a:ln>
        </p:spPr>
      </p:sp>
      <p:sp>
        <p:nvSpPr>
          <p:cNvPr id="4" name="Text 2"/>
          <p:cNvSpPr/>
          <p:nvPr/>
        </p:nvSpPr>
        <p:spPr>
          <a:xfrm>
            <a:off x="5184648" y="1371600"/>
            <a:ext cx="1828800" cy="54864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المحاضرة 4</a:t>
            </a:r>
            <a:endParaRPr lang="en-US" sz="1400" dirty="0"/>
          </a:p>
        </p:txBody>
      </p:sp>
      <p:sp>
        <p:nvSpPr>
          <p:cNvPr id="5" name="Shape 3"/>
          <p:cNvSpPr/>
          <p:nvPr/>
        </p:nvSpPr>
        <p:spPr>
          <a:xfrm>
            <a:off x="7315200" y="1371600"/>
            <a:ext cx="1371600" cy="548640"/>
          </a:xfrm>
          <a:prstGeom prst="rect">
            <a:avLst/>
          </a:prstGeom>
          <a:solidFill>
            <a:srgbClr val="162338"/>
          </a:solidFill>
          <a:ln w="12700">
            <a:solidFill>
              <a:srgbClr val="C9A84C"/>
            </a:solidFill>
            <a:prstDash val="solid"/>
          </a:ln>
        </p:spPr>
      </p:sp>
      <p:sp>
        <p:nvSpPr>
          <p:cNvPr id="6" name="Text 4"/>
          <p:cNvSpPr/>
          <p:nvPr/>
        </p:nvSpPr>
        <p:spPr>
          <a:xfrm>
            <a:off x="7315200" y="1371600"/>
            <a:ext cx="1371600" cy="548640"/>
          </a:xfrm>
          <a:prstGeom prst="rect">
            <a:avLst/>
          </a:prstGeom>
          <a:noFill/>
          <a:ln/>
        </p:spPr>
        <p:txBody>
          <a:bodyPr wrap="square" rtlCol="0" anchor="ctr"/>
          <a:lstStyle/>
          <a:p>
            <a:pPr algn="ctr" indent="0" marL="0">
              <a:buNone/>
            </a:pPr>
            <a:r>
              <a:rPr lang="en-US" sz="1300" dirty="0">
                <a:solidFill>
                  <a:srgbClr val="C9A84C"/>
                </a:solidFill>
                <a:latin typeface="Arial" pitchFamily="34" charset="0"/>
                <a:ea typeface="Arial" pitchFamily="34" charset="-122"/>
                <a:cs typeface="Arial" pitchFamily="34" charset="-120"/>
              </a:rPr>
              <a:t>17 دقيقة</a:t>
            </a:r>
            <a:endParaRPr lang="en-US" sz="1300" dirty="0"/>
          </a:p>
        </p:txBody>
      </p:sp>
      <p:sp>
        <p:nvSpPr>
          <p:cNvPr id="7" name="Text 5"/>
          <p:cNvSpPr/>
          <p:nvPr/>
        </p:nvSpPr>
        <p:spPr>
          <a:xfrm>
            <a:off x="914400" y="2286000"/>
            <a:ext cx="10360152" cy="2286000"/>
          </a:xfrm>
          <a:prstGeom prst="rect">
            <a:avLst/>
          </a:prstGeom>
          <a:noFill/>
          <a:ln/>
        </p:spPr>
        <p:txBody>
          <a:bodyPr wrap="square" rtlCol="0" anchor="ctr"/>
          <a:lstStyle/>
          <a:p>
            <a:pPr rtl="1" algn="ctr" indent="0" marL="0">
              <a:buNone/>
            </a:pPr>
            <a:r>
              <a:rPr lang="en-US" sz="3600" b="1" dirty="0">
                <a:solidFill>
                  <a:srgbClr val="C9A84C"/>
                </a:solidFill>
                <a:latin typeface="Arial" pitchFamily="34" charset="0"/>
                <a:ea typeface="Arial" pitchFamily="34" charset="-122"/>
                <a:cs typeface="Arial" pitchFamily="34" charset="-120"/>
              </a:rPr>
              <a:t>أكبر 5 أخطاء تقتل الإقناع قبل أن تبدأ</a:t>
            </a:r>
            <a:endParaRPr lang="en-US" sz="3600" dirty="0"/>
          </a:p>
        </p:txBody>
      </p:sp>
      <p:sp>
        <p:nvSpPr>
          <p:cNvPr id="8" name="Text 6"/>
          <p:cNvSpPr/>
          <p:nvPr/>
        </p:nvSpPr>
        <p:spPr>
          <a:xfrm>
            <a:off x="0" y="6263640"/>
            <a:ext cx="12188952" cy="50292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Readhubs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الخطأ الأول</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التحدث أكثر من الاستماع</a:t>
            </a:r>
            <a:endParaRPr lang="en-US" sz="2200" dirty="0"/>
          </a:p>
        </p:txBody>
      </p:sp>
      <p:sp>
        <p:nvSpPr>
          <p:cNvPr id="8" name="Shape 6"/>
          <p:cNvSpPr/>
          <p:nvPr/>
        </p:nvSpPr>
        <p:spPr>
          <a:xfrm>
            <a:off x="11430000" y="4069080"/>
            <a:ext cx="182880" cy="182880"/>
          </a:xfrm>
          <a:prstGeom prst="ellipse">
            <a:avLst/>
          </a:prstGeom>
          <a:solidFill>
            <a:srgbClr val="C9A84C"/>
          </a:solidFill>
          <a:ln/>
        </p:spPr>
      </p:sp>
      <p:sp>
        <p:nvSpPr>
          <p:cNvPr id="9" name="Text 7"/>
          <p:cNvSpPr/>
          <p:nvPr/>
        </p:nvSpPr>
        <p:spPr>
          <a:xfrm>
            <a:off x="457200" y="402336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المفاوض الناجح يستمع 57% من الوقت</a:t>
            </a:r>
            <a:endParaRPr lang="en-US" sz="2200" dirty="0"/>
          </a:p>
        </p:txBody>
      </p:sp>
      <p:sp>
        <p:nvSpPr>
          <p:cNvPr id="10" name="Shape 8"/>
          <p:cNvSpPr/>
          <p:nvPr/>
        </p:nvSpPr>
        <p:spPr>
          <a:xfrm>
            <a:off x="11430000" y="6629400"/>
            <a:ext cx="182880" cy="182880"/>
          </a:xfrm>
          <a:prstGeom prst="ellipse">
            <a:avLst/>
          </a:prstGeom>
          <a:solidFill>
            <a:srgbClr val="C9A84C"/>
          </a:solidFill>
          <a:ln/>
        </p:spPr>
      </p:sp>
      <p:sp>
        <p:nvSpPr>
          <p:cNvPr id="11" name="Text 9"/>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الحل: اسأل "ما رأيك؟" قبل أن تطرح فكرتك</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الخطأ الثاني</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استخدام كلمة "لكن"</a:t>
            </a:r>
            <a:endParaRPr lang="en-US" sz="2200" dirty="0"/>
          </a:p>
        </p:txBody>
      </p:sp>
      <p:sp>
        <p:nvSpPr>
          <p:cNvPr id="8" name="Shape 6"/>
          <p:cNvSpPr/>
          <p:nvPr/>
        </p:nvSpPr>
        <p:spPr>
          <a:xfrm>
            <a:off x="11430000" y="4069080"/>
            <a:ext cx="182880" cy="182880"/>
          </a:xfrm>
          <a:prstGeom prst="ellipse">
            <a:avLst/>
          </a:prstGeom>
          <a:solidFill>
            <a:srgbClr val="C9A84C"/>
          </a:solidFill>
          <a:ln/>
        </p:spPr>
      </p:sp>
      <p:sp>
        <p:nvSpPr>
          <p:cNvPr id="9" name="Text 7"/>
          <p:cNvSpPr/>
          <p:nvPr/>
        </p:nvSpPr>
        <p:spPr>
          <a:xfrm>
            <a:off x="457200" y="402336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"أتفهم رأيك لكن..." = أنا أمسح كل ما قلته</a:t>
            </a:r>
            <a:endParaRPr lang="en-US" sz="2200" dirty="0"/>
          </a:p>
        </p:txBody>
      </p:sp>
      <p:sp>
        <p:nvSpPr>
          <p:cNvPr id="10" name="Shape 8"/>
          <p:cNvSpPr/>
          <p:nvPr/>
        </p:nvSpPr>
        <p:spPr>
          <a:xfrm>
            <a:off x="11430000" y="6629400"/>
            <a:ext cx="182880" cy="182880"/>
          </a:xfrm>
          <a:prstGeom prst="ellipse">
            <a:avLst/>
          </a:prstGeom>
          <a:solidFill>
            <a:srgbClr val="C9A84C"/>
          </a:solidFill>
          <a:ln/>
        </p:spPr>
      </p:sp>
      <p:sp>
        <p:nvSpPr>
          <p:cNvPr id="11" name="Text 9"/>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الحل: استخدم "وفي نفس الوقت"</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457200"/>
            <a:ext cx="12188952" cy="1645920"/>
          </a:xfrm>
          <a:prstGeom prst="rect">
            <a:avLst/>
          </a:prstGeom>
          <a:solidFill>
            <a:srgbClr val="C9A84C"/>
          </a:solidFill>
          <a:ln/>
        </p:spPr>
      </p:sp>
      <p:sp>
        <p:nvSpPr>
          <p:cNvPr id="3" name="Text 1"/>
          <p:cNvSpPr/>
          <p:nvPr/>
        </p:nvSpPr>
        <p:spPr>
          <a:xfrm>
            <a:off x="0" y="457200"/>
            <a:ext cx="12188952" cy="1645920"/>
          </a:xfrm>
          <a:prstGeom prst="rect">
            <a:avLst/>
          </a:prstGeom>
          <a:noFill/>
          <a:ln/>
        </p:spPr>
        <p:txBody>
          <a:bodyPr wrap="square" rtlCol="0" anchor="ctr"/>
          <a:lstStyle/>
          <a:p>
            <a:pPr rtl="1" algn="ctr" indent="0" marL="0">
              <a:buNone/>
            </a:pPr>
            <a:r>
              <a:rPr lang="en-US" sz="3200" b="1" dirty="0">
                <a:solidFill>
                  <a:srgbClr val="0F1B2D"/>
                </a:solidFill>
                <a:latin typeface="Arial" pitchFamily="34" charset="0"/>
                <a:ea typeface="Arial" pitchFamily="34" charset="-122"/>
                <a:cs typeface="Arial" pitchFamily="34" charset="-120"/>
              </a:rPr>
              <a:t>التمرين العملي</a:t>
            </a:r>
            <a:endParaRPr lang="en-US" sz="3200" dirty="0"/>
          </a:p>
        </p:txBody>
      </p:sp>
      <p:sp>
        <p:nvSpPr>
          <p:cNvPr id="4" name="Text 2"/>
          <p:cNvSpPr/>
          <p:nvPr/>
        </p:nvSpPr>
        <p:spPr>
          <a:xfrm>
            <a:off x="914400" y="2377440"/>
            <a:ext cx="10360152" cy="4023360"/>
          </a:xfrm>
          <a:prstGeom prst="rect">
            <a:avLst/>
          </a:prstGeom>
          <a:noFill/>
          <a:ln/>
        </p:spPr>
        <p:txBody>
          <a:bodyPr wrap="square" rtlCol="0" anchor="t"/>
          <a:lstStyle/>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التحدث أكثر من الاستماع</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المفاوض الناجح يستمع 57% من الوقت</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الحل: اسأل "ما رأيك؟" قبل أن تطرح فكرتك</a:t>
            </a:r>
            <a:endParaRPr lang="en-US" sz="2000" dirty="0"/>
          </a:p>
        </p:txBody>
      </p:sp>
      <p:sp>
        <p:nvSpPr>
          <p:cNvPr id="5" name="Shape 3"/>
          <p:cNvSpPr/>
          <p:nvPr/>
        </p:nvSpPr>
        <p:spPr>
          <a:xfrm>
            <a:off x="0" y="6537960"/>
            <a:ext cx="12188952" cy="320040"/>
          </a:xfrm>
          <a:prstGeom prst="rect">
            <a:avLst/>
          </a:prstGeom>
          <a:solidFill>
            <a:srgbClr val="C9A84C"/>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3000" b="1" dirty="0">
                <a:solidFill>
                  <a:srgbClr val="C9A84C"/>
                </a:solidFill>
                <a:latin typeface="Arial" pitchFamily="34" charset="0"/>
                <a:ea typeface="Arial" pitchFamily="34" charset="-122"/>
                <a:cs typeface="Arial" pitchFamily="34" charset="-120"/>
              </a:rPr>
              <a:t>ما تعلمناه اليوم</a:t>
            </a:r>
            <a:endParaRPr lang="en-US" sz="3000" dirty="0"/>
          </a:p>
        </p:txBody>
      </p:sp>
      <p:sp>
        <p:nvSpPr>
          <p:cNvPr id="5" name="Shape 3"/>
          <p:cNvSpPr/>
          <p:nvPr/>
        </p:nvSpPr>
        <p:spPr>
          <a:xfrm>
            <a:off x="10972800" y="1737360"/>
            <a:ext cx="640080" cy="548640"/>
          </a:xfrm>
          <a:prstGeom prst="rect">
            <a:avLst/>
          </a:prstGeom>
          <a:solidFill>
            <a:srgbClr val="C9A84C"/>
          </a:solidFill>
          <a:ln/>
        </p:spPr>
      </p:sp>
      <p:sp>
        <p:nvSpPr>
          <p:cNvPr id="6" name="Text 4"/>
          <p:cNvSpPr/>
          <p:nvPr/>
        </p:nvSpPr>
        <p:spPr>
          <a:xfrm>
            <a:off x="10972800" y="173736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457200" y="173736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دعني أخبرك بما يجب ألا تفعله أبداً</a:t>
            </a:r>
            <a:endParaRPr lang="en-US" sz="2000" dirty="0"/>
          </a:p>
        </p:txBody>
      </p:sp>
      <p:sp>
        <p:nvSpPr>
          <p:cNvPr id="8" name="Shape 6"/>
          <p:cNvSpPr/>
          <p:nvPr/>
        </p:nvSpPr>
        <p:spPr>
          <a:xfrm>
            <a:off x="10972800" y="3017520"/>
            <a:ext cx="640080" cy="548640"/>
          </a:xfrm>
          <a:prstGeom prst="rect">
            <a:avLst/>
          </a:prstGeom>
          <a:solidFill>
            <a:srgbClr val="C9A84C"/>
          </a:solidFill>
          <a:ln/>
        </p:spPr>
      </p:sp>
      <p:sp>
        <p:nvSpPr>
          <p:cNvPr id="9" name="Text 7"/>
          <p:cNvSpPr/>
          <p:nvPr/>
        </p:nvSpPr>
        <p:spPr>
          <a:xfrm>
            <a:off x="10972800" y="301752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457200" y="301752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قل: "هذه وجهة نظر مثيرة للاهتمام</a:t>
            </a:r>
            <a:endParaRPr lang="en-US" sz="2000" dirty="0"/>
          </a:p>
        </p:txBody>
      </p:sp>
      <p:sp>
        <p:nvSpPr>
          <p:cNvPr id="11" name="Shape 9"/>
          <p:cNvSpPr/>
          <p:nvPr/>
        </p:nvSpPr>
        <p:spPr>
          <a:xfrm>
            <a:off x="10972800" y="4297680"/>
            <a:ext cx="640080" cy="548640"/>
          </a:xfrm>
          <a:prstGeom prst="rect">
            <a:avLst/>
          </a:prstGeom>
          <a:solidFill>
            <a:srgbClr val="C9A84C"/>
          </a:solidFill>
          <a:ln/>
        </p:spPr>
      </p:sp>
      <p:sp>
        <p:nvSpPr>
          <p:cNvPr id="12" name="Text 10"/>
          <p:cNvSpPr/>
          <p:nvPr/>
        </p:nvSpPr>
        <p:spPr>
          <a:xfrm>
            <a:off x="10972800" y="429768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457200" y="429768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الأغلب أنك وقعت في خطأين على الأقل</a:t>
            </a:r>
            <a:endParaRPr lang="en-US" sz="2000" dirty="0"/>
          </a:p>
        </p:txBody>
      </p:sp>
      <p:sp>
        <p:nvSpPr>
          <p:cNvPr id="14" name="Shape 12"/>
          <p:cNvSpPr/>
          <p:nvPr/>
        </p:nvSpPr>
        <p:spPr>
          <a:xfrm>
            <a:off x="0" y="6537960"/>
            <a:ext cx="12188952" cy="320040"/>
          </a:xfrm>
          <a:prstGeom prst="rect">
            <a:avLst/>
          </a:prstGeom>
          <a:solidFill>
            <a:srgbClr val="C9A84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2026-06-13T14:16:03Z</dcterms:created>
  <dcterms:modified xsi:type="dcterms:W3CDTF">2026-06-13T14:16:03Z</dcterms:modified>
</cp:coreProperties>
</file>