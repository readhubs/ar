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أهلاً بك في المحاضرة الأخيرة. تهانينا. لقد قطعت شوطاً طويلاً. من فهم أساسيات الإقناع، إلى تحليل الشخصيات، إلى بناء الثقة، إلى لغة الجسد، إلى التقنيات الكلامية، إلى التطبيقات الحقيقية، إلى خطة الـ 30 يوماً. أنت الآن تمتلك مجموعة أدوات متكاملة.
دعني ألخص لك كل شيء في 10 وصايا ذهبية. احفظها، اكتبها، علقها أمامك:
الوصية الأولى: الإقناع ليس تلاعباً، هو خدمة. عندما تقنع شخصاً، أنت تساعده على رؤية شيء مفيد له. أخلص نيتك، وسيهون الله عليك الطريق.
الوصية الثانية: قبل أن تحاول إقناع أي شخص، افهم من أمامك. هل هو تحليلي، عاطفي، قيادي، أم اجتماعي؟ أسلوبك يتغير 100% بناءً على الإجابة.
الوصية الثالثة: 30 ثانية. هي كل ما لديك لتبني الثقة. ابتسم، صافح بحرارة، انظر في العينين، كرر الاسم، وافتح جسدك.
الوصية الرابعة: لغة جسدك تتحدث بصوت أعلى من كلماتك. وقفة القوة، يدان في المنطقة الذهبية، اتصال بصري 60%، لا تعبث، لا تتقاطع.
الوصية الخامسة: استمع 70% من الوقت، وتحدث 30%. الأسئلة الذكية أقوى من الإجابات الذكية. استخدم الأسئلة المفتوحة وأسئلة العواقب.
الوصية السادسة: قاعدة نعم نعم نعم. احصل على ثلاث موافقات بسيطة قبل أن تطلب ما تريد. الدماغ يحب الاتساق.
الوصية السابعة: واجه الاعتراضات بالهدوء. استمع، أعد الصياغة، ثم رد. الاعتراض ليس عدواً، هو فرصة للتوضيح.
الوصية الثامنة: خلق فجوة بين الوضع الحالي والمستقبل المنشود، ثم قدم حلك كالجسر. لا تبيع منتجاً، بل تبيع حل مشكلة.
الوصية التاسعة: في العلاقات الشخصية، استخدم "نحن" بدلاً من "أنا" و"أنت". وتذكر: إذا ربحت النقاش، قد تخسر العلاقة.
الوصية العاشرة: الإقناع عادة، لا موهبة. تدرب يومياً. خطة 30 يوماً. سجل التقدم. احتفل بالتحسن الصغير. مع الوقت، يصبح الإقناع طبيعتك الثانية.
والآن، قبل أن ننهي، أريدك أن تعود إلى المحاضرة الأولى. تذكر المواقف الثلاثة التي كتبتها. انظر إليها الآن. كيف كانت سترد قبل الكورس؟ وكيف سترد الآن؟ هل ترى الفرق؟
أنا فخور بك لأنك وصلت إلى هنا. كثيرون يبدأون الدورات ولا يكملون. أنت أكملت. وهذا دليل على أن لديك داخلك قوة إرادة ورغبة في التحسن. استمر على هذا الدرب.
كهدية أخيرة: احتفظ بهذه الجملة في قلبك: "الإقناع الحقيقي ليس أن تجعل الآخرين يفعلون ما تريد، بل أن تجعلهم يريدون فعل ما يفيدهم". عندما تتبنى هذه العقلية، ستنجح ليس فقط في الإقناع، بل في الحياة.
شكراً لثقتك بي ولوقتك. اذهب الآن، وطبق، وكن الشخص المؤثر الذي ولدت لتكونه. والسلام عليكم ورحمة الله وبركاته.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أهلاً بك في المحاضرة الأخيرة. تهانينا. لقد قطعت شوطاً طويلاً. من فهم أساسيات الإقناع، إلى تحليل الشخصيات، إلى بناء الثقة، إلى لغة الجسد، إلى التقنيات الكلامية، إلى التطبيقات الحقيقية، إلى خطة الـ 30 يوماً. أنت الآن تمتلك مجموعة أدوات متكاملة.
دعني ألخص لك كل شيء في 10 وصايا ذهبية. احفظها، اكتبها، علقها أمامك:
الوصية الأولى: الإقناع ليس تلاعباً، هو خدمة. عندما تقنع شخصاً، أنت تساعده على رؤية شيء مفيد له. أخلص نيتك، وسيهون الله عليك الطريق.
الوصية الثانية: قبل أن تحاول إقناع أي شخص، افهم من أمامك. هل هو تحليلي، عاطفي، قيادي، أم اجتماعي؟ أسلوبك يتغير 100% بناءً على الإجابة.
الوصية الثالثة: 30 ثانية. هي كل ما لديك لتبني الثقة. ابتسم، صافح بحرارة، انظر في العينين، كرر الاسم، وافتح جسدك.
الوصية الرابعة: لغة جسدك تتحدث بصوت أعلى من كلماتك. وقفة القوة، يدان في المنطقة الذهبية، اتصال بصري 60%، لا تعبث، لا تتقاطع.
الوصية الخامسة: استمع 70% من الوقت، وتحدث 30%. الأسئلة الذكية أقوى من الإجابات الذكية. استخدم الأسئلة المفتوحة وأسئلة العواقب.
الوصية السادسة: قاعدة نعم نعم نعم. احصل على ثلاث موافقات بسيطة قبل أن تطلب ما تريد. الدماغ يحب الاتساق.
الوصية السابعة: واجه الاعتراضات بالهدوء. استمع، أعد الصياغة، ثم رد. الاعتراض ليس عدواً، هو فرصة للتوضيح.
الوصية الثامنة: خلق فجوة بين الوضع الحالي والمستقبل المنشود، ثم قدم حلك كالجسر. لا تبيع منتجاً، بل تبيع حل مشكلة.
الوصية التاسعة: في العلاقات الشخصية، استخدم "نحن" بدلاً من "أنا" و"أنت". وتذكر: إذا ربحت النقاش، قد تخسر العلاقة.
الوصية العاشرة: الإقناع عادة، لا موهبة. تدرب يومياً. خطة 30 يوماً. سجل التقدم. احتفل بالتحسن الصغير. مع الوقت، يصبح الإقناع طبيعتك الثانية.
والآن، قبل أن ننهي، أريدك أن تعود إلى المحاضرة الأولى. تذكر المواقف الثلاثة التي كتبتها. انظر إليها الآن. كيف كانت سترد قبل الكورس؟ وكيف سترد الآن؟ هل ترى الفرق؟
أنا فخور بك لأنك وصلت إلى هنا. كثيرون يبدأون الدورات ولا يكملون. أنت أكملت. وهذا دليل على أن لديك داخلك قوة إرادة ورغبة في التحسن. استمر على هذا الدرب.
كهدية أخيرة: احتفظ بهذه الجملة في قلبك: "الإقناع الحقيقي ليس أن تجعل الآخرين يفعلون ما تريد، بل أن تجعلهم يريدون فعل ما يفيدهم". عندما تتبنى هذه العقلية، ستنجح ليس فقط في الإقناع، بل في الحياة.
شكراً لثقتك بي ولوقتك. اذهب الآن، وطبق، وكن الشخص المؤثر الذي ولدت لتكونه. والسلام عليكم ورحمة الله وبركاته.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أهلاً بك في المحاضرة الأخيرة. تهانينا. لقد قطعت شوطاً طويلاً. من فهم أساسيات الإقناع، إلى تحليل الشخصيات، إلى بناء الثقة، إلى لغة الجسد، إلى التقنيات الكلامية، إلى التطبيقات الحقيقية، إلى خطة الـ 30 يوماً. أنت الآن تمتلك مجموعة أدوات متكاملة.
دعني ألخص لك كل شيء في 10 وصايا ذهبية. احفظها، اكتبها، علقها أمامك:
الوصية الأولى: الإقناع ليس تلاعباً، هو خدمة. عندما تقنع شخصاً، أنت تساعده على رؤية شيء مفيد له. أخلص نيتك، وسيهون الله عليك الطريق.
الوصية الثانية: قبل أن تحاول إقناع أي شخص، افهم من أمامك. هل هو تحليلي، عاطفي، قيادي، أم اجتماعي؟ أسلوبك يتغير 100% بناءً على الإجابة.
الوصية الثالثة: 30 ثانية. هي كل ما لديك لتبني الثقة. ابتسم، صافح بحرارة، انظر في العينين، كرر الاسم، وافتح جسدك.
الوصية الرابعة: لغة جسدك تتحدث بصوت أعلى من كلماتك. وقفة القوة، يدان في المنطقة الذهبية، اتصال بصري 60%، لا تعبث، لا تتقاطع.
الوصية الخامسة: استمع 70% من الوقت، وتحدث 30%. الأسئلة الذكية أقوى من الإجابات الذكية. استخدم الأسئلة المفتوحة وأسئلة العواقب.
الوصية السادسة: قاعدة نعم نعم نعم. احصل على ثلاث موافقات بسيطة قبل أن تطلب ما تريد. الدماغ يحب الاتساق.
الوصية السابعة: واجه الاعتراضات بالهدوء. استمع، أعد الصياغة، ثم رد. الاعتراض ليس عدواً، هو فرصة للتوضيح.
الوصية الثامنة: خلق فجوة بين الوضع الحالي والمستقبل المنشود، ثم قدم حلك كالجسر. لا تبيع منتجاً، بل تبيع حل مشكلة.
الوصية التاسعة: في العلاقات الشخصية، استخدم "نحن" بدلاً من "أنا" و"أنت". وتذكر: إذا ربحت النقاش، قد تخسر العلاقة.
الوصية العاشرة: الإقناع عادة، لا موهبة. تدرب يومياً. خطة 30 يوماً. سجل التقدم. احتفل بالتحسن الصغير. مع الوقت، يصبح الإقناع طبيعتك الثانية.
والآن، قبل أن ننهي، أريدك أن تعود إلى المحاضرة الأولى. تذكر المواقف الثلاثة التي كتبتها. انظر إليها الآن. كيف كانت سترد قبل الكورس؟ وكيف سترد الآن؟ هل ترى الفرق؟
أنا فخور بك لأنك وصلت إلى هنا. كثيرون يبدأون الدورات ولا يكملون. أنت أكملت. وهذا دليل على أن لديك داخلك قوة إرادة ورغبة في التحسن. استمر على هذا الدرب.
كهدية أخيرة: احتفظ بهذه الجملة في قلبك: "الإقناع الحقيقي ليس أن تجعل الآخرين يفعلون ما تريد، بل أن تجعلهم يريدون فعل ما يفيدهم". عندما تتبنى هذه العقلية، ستنجح ليس فقط في الإقناع، بل في الحياة.
شكراً لثقتك بي ولوقتك. اذهب الآن، وطبق، وكن الشخص المؤثر الذي ولدت لتكونه. والسلام عليكم ورحمة الله وبركاته.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أهلاً بك في المحاضرة الأخيرة. تهانينا. لقد قطعت شوطاً طويلاً. من فهم أساسيات الإقناع، إلى تحليل الشخصيات، إلى بناء الثقة، إلى لغة الجسد، إلى التقنيات الكلامية، إلى التطبيقات الحقيقية، إلى خطة الـ 30 يوماً. أنت الآن تمتلك مجموعة أدوات متكاملة.
دعني ألخص لك كل شيء في 10 وصايا ذهبية. احفظها، اكتبها، علقها أمامك:
الوصية الأولى: الإقناع ليس تلاعباً، هو خدمة. عندما تقنع شخصاً، أنت تساعده على رؤية شيء مفيد له. أخلص نيتك، وسيهون الله عليك الطريق.
الوصية الثانية: قبل أن تحاول إقناع أي شخص، افهم من أمامك. هل هو تحليلي، عاطفي، قيادي، أم اجتماعي؟ أسلوبك يتغير 100% بناءً على الإجابة.
الوصية الثالثة: 30 ثانية. هي كل ما لديك لتبني الثقة. ابتسم، صافح بحرارة، انظر في العينين، كرر الاسم، وافتح جسدك.
الوصية الرابعة: لغة جسدك تتحدث بصوت أعلى من كلماتك. وقفة القوة، يدان في المنطقة الذهبية، اتصال بصري 60%، لا تعبث، لا تتقاطع.
الوصية الخامسة: استمع 70% من الوقت، وتحدث 30%. الأسئلة الذكية أقوى من الإجابات الذكية. استخدم الأسئلة المفتوحة وأسئلة العواقب.
الوصية السادسة: قاعدة نعم نعم نعم. احصل على ثلاث موافقات بسيطة قبل أن تطلب ما تريد. الدماغ يحب الاتساق.
الوصية السابعة: واجه الاعتراضات بالهدوء. استمع، أعد الصياغة، ثم رد. الاعتراض ليس عدواً، هو فرصة للتوضيح.
الوصية الثامنة: خلق فجوة بين الوضع الحالي والمستقبل المنشود، ثم قدم حلك كالجسر. لا تبيع منتجاً، بل تبيع حل مشكلة.
الوصية التاسعة: في العلاقات الشخصية، استخدم "نحن" بدلاً من "أنا" و"أنت". وتذكر: إذا ربحت النقاش، قد تخسر العلاقة.
الوصية العاشرة: الإقناع عادة، لا موهبة. تدرب يومياً. خطة 30 يوماً. سجل التقدم. احتفل بالتحسن الصغير. مع الوقت، يصبح الإقناع طبيعتك الثانية.
والآن، قبل أن ننهي، أريدك أن تعود إلى المحاضرة الأولى. تذكر المواقف الثلاثة التي كتبتها. انظر إليها الآن. كيف كانت سترد قبل الكورس؟ وكيف سترد الآن؟ هل ترى الفرق؟
أنا فخور بك لأنك وصلت إلى هنا. كثيرون يبدأون الدورات ولا يكملون. أنت أكملت. وهذا دليل على أن لديك داخلك قوة إرادة ورغبة في التحسن. استمر على هذا الدرب.
كهدية أخيرة: احتفظ بهذه الجملة في قلبك: "الإقناع الحقيقي ليس أن تجعل الآخرين يفعلون ما تريد، بل أن تجعلهم يريدون فعل ما يفيدهم". عندما تتبنى هذه العقلية، ستنجح ليس فقط في الإقناع، بل في الحياة.
شكراً لثقتك بي ولوقتك. اذهب الآن، وطبق، وكن الشخص المؤثر الذي ولدت لتكونه. والسلام عليكم ورحمة الله وبركاته.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ملخص المحاضرة 24: الخاتمة - خلاصة الكورس وأهم 10 وصايا للمؤثر الناجح
أهلاً بك في المحاضرة الأخيرة. تهانينا. لقد قطعت شوطاً طويلاً. من فهم أساسيات الإقناع، إلى تحليل الشخصيات، إلى بناء الثقة، إلى لغة الجسد، إلى التقنيات الكلامية، إلى التطبيقات الحقيقية، إلى خطة الـ 30 يوماً. أنت الآن تمتلك مجموعة أدوات متكاملة.
دعني ألخص لك كل شيء في 10 وصايا ذهبية. احفظها، اكتبها، علقها أمامك:
الوصية الأولى: الإقناع ليس تلاعباً، هو خدمة. عندما تقنع شخصاً، أنت تساعده على رؤية شيء مفيد له. أخلص نيتك، وسيهون الله عليك الطريق.
الوصية الثانية: قبل أن تحاول إقناع أي شخص، افهم من أمامك. هل هو تحليلي، عاطفي، قيادي، أم اجتماعي؟ أسلوبك يتغير 100% بناءً على الإجابة.
الوصية الثالثة: 30 ثانية. هي كل ما لديك لتبني الثقة. ابتسم، صافح بحرارة، انظر في العينين، كرر الاسم، وافتح جسدك.
الوصية الرابعة: لغة جسدك تتحدث بصوت أعلى من كلماتك. وقفة القوة، يدان في المنطقة الذهبية، اتصال بصري 60%، لا تعبث، لا تتقاطع.
الوصية الخامسة: استمع 70% من الوقت، وتحدث 30%. الأسئلة الذكية أقوى من الإجابات الذكية. استخدم الأسئلة المفتوحة وأسئلة العواقب.
الوصية السادسة: قاعدة نعم نعم نعم. احصل على ثلاث موافقات بسيطة قبل أن تطلب ما تريد. الدماغ يحب الاتساق.
الوصية السابعة: واجه الاعتراضات بالهدوء. استمع، أعد الصياغة، ثم رد. الاعتراض ليس عدواً، هو فرصة للتوضيح.
الوصية الثامنة: خلق فجوة بين الوضع الحالي والمستقبل المنشود، ثم قدم حلك كالجسر. لا تبيع منتجاً، بل تبيع حل مشكلة.
الوصية التاسعة: في العلاقات الشخصية، استخدم "نحن" بدلاً من "أنا" و"أنت". وتذكر: إذا ربحت النقاش، قد تخسر العلاقة.
الوصية العاشرة: الإقناع عادة، لا موهبة. تدرب يومياً. خطة 30 يوماً. سجل التقدم. احتفل بالتحسن الصغير. مع الوقت، يصبح الإقناع طبيعتك الثانية.
والآن، قبل أن ننهي، أريدك أن تعود إلى المحاضرة الأولى. تذكر المواقف الثلاثة التي كتبتها. انظر إليها الآن. كيف كانت سترد قبل الكورس؟ وكيف سترد الآن؟ هل ترى الفرق؟
أنا فخور بك لأنك وصلت إلى هنا. كثيرون يبدأون الدورات ولا يكملون. أنت أكملت. وهذا دليل على أن لديك داخلك قوة إرادة ورغبة في التحسن. استمر على هذا الدرب.
كهدية أخيرة: احتفظ بهذه الجملة في قلبك: "الإقناع الحقيقي ليس أن تجعل الآخرين يفعلون ما تريد، بل أن تجعلهم يريدون فعل ما يفيدهم". عندما تتبنى هذه العقلية، ستنجح ليس فقط في الإقناع، بل في الحياة.
شكراً لثقتك بي ولوقتك. اذهب الآن، وطبق، وكن الشخص المؤثر الذي ولدت لتكونه. والسلام عليكم ورحمة الله وبركاته.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6217920"/>
            <a:ext cx="12188952" cy="640080"/>
          </a:xfrm>
          <a:prstGeom prst="rect">
            <a:avLst/>
          </a:prstGeom>
          <a:solidFill>
            <a:srgbClr val="C9A84C"/>
          </a:solidFill>
          <a:ln/>
        </p:spPr>
      </p:sp>
      <p:sp>
        <p:nvSpPr>
          <p:cNvPr id="3" name="Shape 1"/>
          <p:cNvSpPr/>
          <p:nvPr/>
        </p:nvSpPr>
        <p:spPr>
          <a:xfrm>
            <a:off x="5184648" y="1371600"/>
            <a:ext cx="1828800" cy="548640"/>
          </a:xfrm>
          <a:prstGeom prst="rect">
            <a:avLst/>
          </a:prstGeom>
          <a:solidFill>
            <a:srgbClr val="C9A84C"/>
          </a:solidFill>
          <a:ln w="12700">
            <a:solidFill>
              <a:srgbClr val="C9A84C"/>
            </a:solidFill>
            <a:prstDash val="solid"/>
          </a:ln>
        </p:spPr>
      </p:sp>
      <p:sp>
        <p:nvSpPr>
          <p:cNvPr id="4" name="Text 2"/>
          <p:cNvSpPr/>
          <p:nvPr/>
        </p:nvSpPr>
        <p:spPr>
          <a:xfrm>
            <a:off x="5184648" y="1371600"/>
            <a:ext cx="1828800" cy="548640"/>
          </a:xfrm>
          <a:prstGeom prst="rect">
            <a:avLst/>
          </a:prstGeom>
          <a:noFill/>
          <a:ln/>
        </p:spPr>
        <p:txBody>
          <a:bodyPr wrap="square"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المحاضرة 24</a:t>
            </a:r>
            <a:endParaRPr lang="en-US" sz="1400" dirty="0"/>
          </a:p>
        </p:txBody>
      </p:sp>
      <p:sp>
        <p:nvSpPr>
          <p:cNvPr id="5" name="Shape 3"/>
          <p:cNvSpPr/>
          <p:nvPr/>
        </p:nvSpPr>
        <p:spPr>
          <a:xfrm>
            <a:off x="7315200" y="1371600"/>
            <a:ext cx="1371600" cy="548640"/>
          </a:xfrm>
          <a:prstGeom prst="rect">
            <a:avLst/>
          </a:prstGeom>
          <a:solidFill>
            <a:srgbClr val="162338"/>
          </a:solidFill>
          <a:ln w="12700">
            <a:solidFill>
              <a:srgbClr val="C9A84C"/>
            </a:solidFill>
            <a:prstDash val="solid"/>
          </a:ln>
        </p:spPr>
      </p:sp>
      <p:sp>
        <p:nvSpPr>
          <p:cNvPr id="6" name="Text 4"/>
          <p:cNvSpPr/>
          <p:nvPr/>
        </p:nvSpPr>
        <p:spPr>
          <a:xfrm>
            <a:off x="7315200" y="1371600"/>
            <a:ext cx="1371600" cy="548640"/>
          </a:xfrm>
          <a:prstGeom prst="rect">
            <a:avLst/>
          </a:prstGeom>
          <a:noFill/>
          <a:ln/>
        </p:spPr>
        <p:txBody>
          <a:bodyPr wrap="square" rtlCol="0" anchor="ctr"/>
          <a:lstStyle/>
          <a:p>
            <a:pPr algn="ctr" indent="0" marL="0">
              <a:buNone/>
            </a:pPr>
            <a:r>
              <a:rPr lang="en-US" sz="1300" dirty="0">
                <a:solidFill>
                  <a:srgbClr val="C9A84C"/>
                </a:solidFill>
                <a:latin typeface="Arial" pitchFamily="34" charset="0"/>
                <a:ea typeface="Arial" pitchFamily="34" charset="-122"/>
                <a:cs typeface="Arial" pitchFamily="34" charset="-120"/>
              </a:rPr>
              <a:t>18 دقيقة</a:t>
            </a:r>
            <a:endParaRPr lang="en-US" sz="1300" dirty="0"/>
          </a:p>
        </p:txBody>
      </p:sp>
      <p:sp>
        <p:nvSpPr>
          <p:cNvPr id="7" name="Text 5"/>
          <p:cNvSpPr/>
          <p:nvPr/>
        </p:nvSpPr>
        <p:spPr>
          <a:xfrm>
            <a:off x="914400" y="2286000"/>
            <a:ext cx="10360152" cy="2286000"/>
          </a:xfrm>
          <a:prstGeom prst="rect">
            <a:avLst/>
          </a:prstGeom>
          <a:noFill/>
          <a:ln/>
        </p:spPr>
        <p:txBody>
          <a:bodyPr wrap="square" rtlCol="0" anchor="ctr"/>
          <a:lstStyle/>
          <a:p>
            <a:pPr rtl="1" algn="ctr" indent="0" marL="0">
              <a:buNone/>
            </a:pPr>
            <a:r>
              <a:rPr lang="en-US" sz="3600" b="1" dirty="0">
                <a:solidFill>
                  <a:srgbClr val="C9A84C"/>
                </a:solidFill>
                <a:latin typeface="Arial" pitchFamily="34" charset="0"/>
                <a:ea typeface="Arial" pitchFamily="34" charset="-122"/>
                <a:cs typeface="Arial" pitchFamily="34" charset="-120"/>
              </a:rPr>
              <a:t>الخاتمة - خلاصة الكورس وأهم 10 وصايا للمؤثر الناجح</a:t>
            </a:r>
            <a:endParaRPr lang="en-US" sz="3600" dirty="0"/>
          </a:p>
        </p:txBody>
      </p:sp>
      <p:sp>
        <p:nvSpPr>
          <p:cNvPr id="8" name="Text 6"/>
          <p:cNvSpPr/>
          <p:nvPr/>
        </p:nvSpPr>
        <p:spPr>
          <a:xfrm>
            <a:off x="0" y="6263640"/>
            <a:ext cx="12188952" cy="502920"/>
          </a:xfrm>
          <a:prstGeom prst="rect">
            <a:avLst/>
          </a:prstGeom>
          <a:noFill/>
          <a:ln/>
        </p:spPr>
        <p:txBody>
          <a:bodyPr wrap="square"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Readhubs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2600" b="1" dirty="0">
                <a:solidFill>
                  <a:srgbClr val="FFFFFF"/>
                </a:solidFill>
                <a:latin typeface="Arial" pitchFamily="34" charset="0"/>
                <a:ea typeface="Arial" pitchFamily="34" charset="-122"/>
                <a:cs typeface="Arial" pitchFamily="34" charset="-120"/>
              </a:rPr>
              <a:t>أهم 10 وصايا للمؤثر الناجح</a:t>
            </a:r>
            <a:endParaRPr lang="en-US" sz="2600" dirty="0"/>
          </a:p>
        </p:txBody>
      </p:sp>
      <p:sp>
        <p:nvSpPr>
          <p:cNvPr id="5" name="Shape 3"/>
          <p:cNvSpPr/>
          <p:nvPr/>
        </p:nvSpPr>
        <p:spPr>
          <a:xfrm>
            <a:off x="0" y="6537960"/>
            <a:ext cx="12188952" cy="320040"/>
          </a:xfrm>
          <a:prstGeom prst="rect">
            <a:avLst/>
          </a:prstGeom>
          <a:solidFill>
            <a:srgbClr val="C9A84C"/>
          </a:solidFill>
          <a:ln/>
        </p:spPr>
      </p:sp>
      <p:sp>
        <p:nvSpPr>
          <p:cNvPr id="6" name="Shape 4"/>
          <p:cNvSpPr/>
          <p:nvPr/>
        </p:nvSpPr>
        <p:spPr>
          <a:xfrm>
            <a:off x="11430000" y="1508760"/>
            <a:ext cx="182880" cy="182880"/>
          </a:xfrm>
          <a:prstGeom prst="ellipse">
            <a:avLst/>
          </a:prstGeom>
          <a:solidFill>
            <a:srgbClr val="C9A84C"/>
          </a:solidFill>
          <a:ln/>
        </p:spPr>
      </p:sp>
      <p:sp>
        <p:nvSpPr>
          <p:cNvPr id="7" name="Text 5"/>
          <p:cNvSpPr/>
          <p:nvPr/>
        </p:nvSpPr>
        <p:spPr>
          <a:xfrm>
            <a:off x="457200" y="146304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الإقناع خدمة وليس تلاعباً</a:t>
            </a:r>
            <a:endParaRPr lang="en-US" sz="2200" dirty="0"/>
          </a:p>
        </p:txBody>
      </p:sp>
      <p:sp>
        <p:nvSpPr>
          <p:cNvPr id="8" name="Shape 6"/>
          <p:cNvSpPr/>
          <p:nvPr/>
        </p:nvSpPr>
        <p:spPr>
          <a:xfrm>
            <a:off x="11430000" y="2788920"/>
            <a:ext cx="182880" cy="182880"/>
          </a:xfrm>
          <a:prstGeom prst="ellipse">
            <a:avLst/>
          </a:prstGeom>
          <a:solidFill>
            <a:srgbClr val="C9A84C"/>
          </a:solidFill>
          <a:ln/>
        </p:spPr>
      </p:sp>
      <p:sp>
        <p:nvSpPr>
          <p:cNvPr id="9" name="Text 7"/>
          <p:cNvSpPr/>
          <p:nvPr/>
        </p:nvSpPr>
        <p:spPr>
          <a:xfrm>
            <a:off x="457200" y="274320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افهم من أمامك قبل أن تبدأ</a:t>
            </a:r>
            <a:endParaRPr lang="en-US" sz="2200" dirty="0"/>
          </a:p>
        </p:txBody>
      </p:sp>
      <p:sp>
        <p:nvSpPr>
          <p:cNvPr id="10" name="Shape 8"/>
          <p:cNvSpPr/>
          <p:nvPr/>
        </p:nvSpPr>
        <p:spPr>
          <a:xfrm>
            <a:off x="11430000" y="4069080"/>
            <a:ext cx="182880" cy="182880"/>
          </a:xfrm>
          <a:prstGeom prst="ellipse">
            <a:avLst/>
          </a:prstGeom>
          <a:solidFill>
            <a:srgbClr val="C9A84C"/>
          </a:solidFill>
          <a:ln/>
        </p:spPr>
      </p:sp>
      <p:sp>
        <p:nvSpPr>
          <p:cNvPr id="11" name="Text 9"/>
          <p:cNvSpPr/>
          <p:nvPr/>
        </p:nvSpPr>
        <p:spPr>
          <a:xfrm>
            <a:off x="457200" y="402336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30 ثانية لبناء الثقة</a:t>
            </a:r>
            <a:endParaRPr lang="en-US" sz="2200" dirty="0"/>
          </a:p>
        </p:txBody>
      </p:sp>
      <p:sp>
        <p:nvSpPr>
          <p:cNvPr id="12" name="Shape 10"/>
          <p:cNvSpPr/>
          <p:nvPr/>
        </p:nvSpPr>
        <p:spPr>
          <a:xfrm>
            <a:off x="11430000" y="5349240"/>
            <a:ext cx="182880" cy="182880"/>
          </a:xfrm>
          <a:prstGeom prst="ellipse">
            <a:avLst/>
          </a:prstGeom>
          <a:solidFill>
            <a:srgbClr val="C9A84C"/>
          </a:solidFill>
          <a:ln/>
        </p:spPr>
      </p:sp>
      <p:sp>
        <p:nvSpPr>
          <p:cNvPr id="13" name="Text 11"/>
          <p:cNvSpPr/>
          <p:nvPr/>
        </p:nvSpPr>
        <p:spPr>
          <a:xfrm>
            <a:off x="457200" y="530352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لغة جسدك تتحدث بصوت أعلى</a:t>
            </a:r>
            <a:endParaRPr lang="en-US" sz="2200" dirty="0"/>
          </a:p>
        </p:txBody>
      </p:sp>
      <p:sp>
        <p:nvSpPr>
          <p:cNvPr id="14" name="Shape 12"/>
          <p:cNvSpPr/>
          <p:nvPr/>
        </p:nvSpPr>
        <p:spPr>
          <a:xfrm>
            <a:off x="11430000" y="6629400"/>
            <a:ext cx="182880" cy="182880"/>
          </a:xfrm>
          <a:prstGeom prst="ellipse">
            <a:avLst/>
          </a:prstGeom>
          <a:solidFill>
            <a:srgbClr val="C9A84C"/>
          </a:solidFill>
          <a:ln/>
        </p:spPr>
      </p:sp>
      <p:sp>
        <p:nvSpPr>
          <p:cNvPr id="15" name="Text 13"/>
          <p:cNvSpPr/>
          <p:nvPr/>
        </p:nvSpPr>
        <p:spPr>
          <a:xfrm>
            <a:off x="457200" y="658368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استمع 70%، تحدث 30%</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2600" b="1" dirty="0">
                <a:solidFill>
                  <a:srgbClr val="FFFFFF"/>
                </a:solidFill>
                <a:latin typeface="Arial" pitchFamily="34" charset="0"/>
                <a:ea typeface="Arial" pitchFamily="34" charset="-122"/>
                <a:cs typeface="Arial" pitchFamily="34" charset="-120"/>
              </a:rPr>
              <a:t>الوصايا من 6 إلى 10</a:t>
            </a:r>
            <a:endParaRPr lang="en-US" sz="2600" dirty="0"/>
          </a:p>
        </p:txBody>
      </p:sp>
      <p:sp>
        <p:nvSpPr>
          <p:cNvPr id="5" name="Shape 3"/>
          <p:cNvSpPr/>
          <p:nvPr/>
        </p:nvSpPr>
        <p:spPr>
          <a:xfrm>
            <a:off x="0" y="6537960"/>
            <a:ext cx="12188952" cy="320040"/>
          </a:xfrm>
          <a:prstGeom prst="rect">
            <a:avLst/>
          </a:prstGeom>
          <a:solidFill>
            <a:srgbClr val="C9A84C"/>
          </a:solidFill>
          <a:ln/>
        </p:spPr>
      </p:sp>
      <p:sp>
        <p:nvSpPr>
          <p:cNvPr id="6" name="Shape 4"/>
          <p:cNvSpPr/>
          <p:nvPr/>
        </p:nvSpPr>
        <p:spPr>
          <a:xfrm>
            <a:off x="11430000" y="1508760"/>
            <a:ext cx="182880" cy="182880"/>
          </a:xfrm>
          <a:prstGeom prst="ellipse">
            <a:avLst/>
          </a:prstGeom>
          <a:solidFill>
            <a:srgbClr val="C9A84C"/>
          </a:solidFill>
          <a:ln/>
        </p:spPr>
      </p:sp>
      <p:sp>
        <p:nvSpPr>
          <p:cNvPr id="7" name="Text 5"/>
          <p:cNvSpPr/>
          <p:nvPr/>
        </p:nvSpPr>
        <p:spPr>
          <a:xfrm>
            <a:off x="457200" y="146304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قاعدة نعم نعم نعم</a:t>
            </a:r>
            <a:endParaRPr lang="en-US" sz="2200" dirty="0"/>
          </a:p>
        </p:txBody>
      </p:sp>
      <p:sp>
        <p:nvSpPr>
          <p:cNvPr id="8" name="Shape 6"/>
          <p:cNvSpPr/>
          <p:nvPr/>
        </p:nvSpPr>
        <p:spPr>
          <a:xfrm>
            <a:off x="11430000" y="2788920"/>
            <a:ext cx="182880" cy="182880"/>
          </a:xfrm>
          <a:prstGeom prst="ellipse">
            <a:avLst/>
          </a:prstGeom>
          <a:solidFill>
            <a:srgbClr val="C9A84C"/>
          </a:solidFill>
          <a:ln/>
        </p:spPr>
      </p:sp>
      <p:sp>
        <p:nvSpPr>
          <p:cNvPr id="9" name="Text 7"/>
          <p:cNvSpPr/>
          <p:nvPr/>
        </p:nvSpPr>
        <p:spPr>
          <a:xfrm>
            <a:off x="457200" y="274320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واجه الاعتراضات بالهدوء</a:t>
            </a:r>
            <a:endParaRPr lang="en-US" sz="2200" dirty="0"/>
          </a:p>
        </p:txBody>
      </p:sp>
      <p:sp>
        <p:nvSpPr>
          <p:cNvPr id="10" name="Shape 8"/>
          <p:cNvSpPr/>
          <p:nvPr/>
        </p:nvSpPr>
        <p:spPr>
          <a:xfrm>
            <a:off x="11430000" y="4069080"/>
            <a:ext cx="182880" cy="182880"/>
          </a:xfrm>
          <a:prstGeom prst="ellipse">
            <a:avLst/>
          </a:prstGeom>
          <a:solidFill>
            <a:srgbClr val="C9A84C"/>
          </a:solidFill>
          <a:ln/>
        </p:spPr>
      </p:sp>
      <p:sp>
        <p:nvSpPr>
          <p:cNvPr id="11" name="Text 9"/>
          <p:cNvSpPr/>
          <p:nvPr/>
        </p:nvSpPr>
        <p:spPr>
          <a:xfrm>
            <a:off x="457200" y="402336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خلق فجوة ثم قدم الجسر</a:t>
            </a:r>
            <a:endParaRPr lang="en-US" sz="2200" dirty="0"/>
          </a:p>
        </p:txBody>
      </p:sp>
      <p:sp>
        <p:nvSpPr>
          <p:cNvPr id="12" name="Shape 10"/>
          <p:cNvSpPr/>
          <p:nvPr/>
        </p:nvSpPr>
        <p:spPr>
          <a:xfrm>
            <a:off x="11430000" y="5349240"/>
            <a:ext cx="182880" cy="182880"/>
          </a:xfrm>
          <a:prstGeom prst="ellipse">
            <a:avLst/>
          </a:prstGeom>
          <a:solidFill>
            <a:srgbClr val="C9A84C"/>
          </a:solidFill>
          <a:ln/>
        </p:spPr>
      </p:sp>
      <p:sp>
        <p:nvSpPr>
          <p:cNvPr id="13" name="Text 11"/>
          <p:cNvSpPr/>
          <p:nvPr/>
        </p:nvSpPr>
        <p:spPr>
          <a:xfrm>
            <a:off x="457200" y="530352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استخدم "نحن" في العلاقات الشخصية</a:t>
            </a:r>
            <a:endParaRPr lang="en-US" sz="2200" dirty="0"/>
          </a:p>
        </p:txBody>
      </p:sp>
      <p:sp>
        <p:nvSpPr>
          <p:cNvPr id="14" name="Shape 12"/>
          <p:cNvSpPr/>
          <p:nvPr/>
        </p:nvSpPr>
        <p:spPr>
          <a:xfrm>
            <a:off x="11430000" y="6629400"/>
            <a:ext cx="182880" cy="182880"/>
          </a:xfrm>
          <a:prstGeom prst="ellipse">
            <a:avLst/>
          </a:prstGeom>
          <a:solidFill>
            <a:srgbClr val="C9A84C"/>
          </a:solidFill>
          <a:ln/>
        </p:spPr>
      </p:sp>
      <p:sp>
        <p:nvSpPr>
          <p:cNvPr id="15" name="Text 13"/>
          <p:cNvSpPr/>
          <p:nvPr/>
        </p:nvSpPr>
        <p:spPr>
          <a:xfrm>
            <a:off x="457200" y="658368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الإقناع عادة وليس موهبة - تدرب يومياً</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457200"/>
            <a:ext cx="12188952" cy="1645920"/>
          </a:xfrm>
          <a:prstGeom prst="rect">
            <a:avLst/>
          </a:prstGeom>
          <a:solidFill>
            <a:srgbClr val="C9A84C"/>
          </a:solidFill>
          <a:ln/>
        </p:spPr>
      </p:sp>
      <p:sp>
        <p:nvSpPr>
          <p:cNvPr id="3" name="Text 1"/>
          <p:cNvSpPr/>
          <p:nvPr/>
        </p:nvSpPr>
        <p:spPr>
          <a:xfrm>
            <a:off x="0" y="457200"/>
            <a:ext cx="12188952" cy="1645920"/>
          </a:xfrm>
          <a:prstGeom prst="rect">
            <a:avLst/>
          </a:prstGeom>
          <a:noFill/>
          <a:ln/>
        </p:spPr>
        <p:txBody>
          <a:bodyPr wrap="square" rtlCol="0" anchor="ctr"/>
          <a:lstStyle/>
          <a:p>
            <a:pPr rtl="1" algn="ctr" indent="0" marL="0">
              <a:buNone/>
            </a:pPr>
            <a:r>
              <a:rPr lang="en-US" sz="3200" b="1" dirty="0">
                <a:solidFill>
                  <a:srgbClr val="0F1B2D"/>
                </a:solidFill>
                <a:latin typeface="Arial" pitchFamily="34" charset="0"/>
                <a:ea typeface="Arial" pitchFamily="34" charset="-122"/>
                <a:cs typeface="Arial" pitchFamily="34" charset="-120"/>
              </a:rPr>
              <a:t>التمرين العملي</a:t>
            </a:r>
            <a:endParaRPr lang="en-US" sz="3200" dirty="0"/>
          </a:p>
        </p:txBody>
      </p:sp>
      <p:sp>
        <p:nvSpPr>
          <p:cNvPr id="4" name="Text 2"/>
          <p:cNvSpPr/>
          <p:nvPr/>
        </p:nvSpPr>
        <p:spPr>
          <a:xfrm>
            <a:off x="914400" y="2377440"/>
            <a:ext cx="10360152" cy="4023360"/>
          </a:xfrm>
          <a:prstGeom prst="rect">
            <a:avLst/>
          </a:prstGeom>
          <a:noFill/>
          <a:ln/>
        </p:spPr>
        <p:txBody>
          <a:bodyPr wrap="square" rtlCol="0" anchor="t"/>
          <a:lstStyle/>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الإقناع خدمة وليس تلاعباً</a:t>
            </a:r>
            <a:endParaRPr lang="en-US" sz="2000" dirty="0"/>
          </a:p>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افهم من أمامك قبل أن تبدأ</a:t>
            </a:r>
            <a:endParaRPr lang="en-US" sz="2000" dirty="0"/>
          </a:p>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30 ثانية لبناء الثقة</a:t>
            </a:r>
            <a:endParaRPr lang="en-US" sz="2000" dirty="0"/>
          </a:p>
        </p:txBody>
      </p:sp>
      <p:sp>
        <p:nvSpPr>
          <p:cNvPr id="5" name="Shape 3"/>
          <p:cNvSpPr/>
          <p:nvPr/>
        </p:nvSpPr>
        <p:spPr>
          <a:xfrm>
            <a:off x="0" y="6537960"/>
            <a:ext cx="12188952" cy="320040"/>
          </a:xfrm>
          <a:prstGeom prst="rect">
            <a:avLst/>
          </a:prstGeom>
          <a:solidFill>
            <a:srgbClr val="C9A84C"/>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3000" b="1" dirty="0">
                <a:solidFill>
                  <a:srgbClr val="C9A84C"/>
                </a:solidFill>
                <a:latin typeface="Arial" pitchFamily="34" charset="0"/>
                <a:ea typeface="Arial" pitchFamily="34" charset="-122"/>
                <a:cs typeface="Arial" pitchFamily="34" charset="-120"/>
              </a:rPr>
              <a:t>ما تعلمناه اليوم</a:t>
            </a:r>
            <a:endParaRPr lang="en-US" sz="3000" dirty="0"/>
          </a:p>
        </p:txBody>
      </p:sp>
      <p:sp>
        <p:nvSpPr>
          <p:cNvPr id="5" name="Shape 3"/>
          <p:cNvSpPr/>
          <p:nvPr/>
        </p:nvSpPr>
        <p:spPr>
          <a:xfrm>
            <a:off x="10972800" y="1737360"/>
            <a:ext cx="640080" cy="548640"/>
          </a:xfrm>
          <a:prstGeom prst="rect">
            <a:avLst/>
          </a:prstGeom>
          <a:solidFill>
            <a:srgbClr val="C9A84C"/>
          </a:solidFill>
          <a:ln/>
        </p:spPr>
      </p:sp>
      <p:sp>
        <p:nvSpPr>
          <p:cNvPr id="6" name="Text 4"/>
          <p:cNvSpPr/>
          <p:nvPr/>
        </p:nvSpPr>
        <p:spPr>
          <a:xfrm>
            <a:off x="10972800" y="173736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1</a:t>
            </a:r>
            <a:endParaRPr lang="en-US" sz="1800" dirty="0"/>
          </a:p>
        </p:txBody>
      </p:sp>
      <p:sp>
        <p:nvSpPr>
          <p:cNvPr id="7" name="Text 5"/>
          <p:cNvSpPr/>
          <p:nvPr/>
        </p:nvSpPr>
        <p:spPr>
          <a:xfrm>
            <a:off x="457200" y="173736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أنت الآن تمتلك مجموعة أدوات متكاملة</a:t>
            </a:r>
            <a:endParaRPr lang="en-US" sz="2000" dirty="0"/>
          </a:p>
        </p:txBody>
      </p:sp>
      <p:sp>
        <p:nvSpPr>
          <p:cNvPr id="8" name="Shape 6"/>
          <p:cNvSpPr/>
          <p:nvPr/>
        </p:nvSpPr>
        <p:spPr>
          <a:xfrm>
            <a:off x="10972800" y="3017520"/>
            <a:ext cx="640080" cy="548640"/>
          </a:xfrm>
          <a:prstGeom prst="rect">
            <a:avLst/>
          </a:prstGeom>
          <a:solidFill>
            <a:srgbClr val="C9A84C"/>
          </a:solidFill>
          <a:ln/>
        </p:spPr>
      </p:sp>
      <p:sp>
        <p:nvSpPr>
          <p:cNvPr id="9" name="Text 7"/>
          <p:cNvSpPr/>
          <p:nvPr/>
        </p:nvSpPr>
        <p:spPr>
          <a:xfrm>
            <a:off x="10972800" y="301752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2</a:t>
            </a:r>
            <a:endParaRPr lang="en-US" sz="1800" dirty="0"/>
          </a:p>
        </p:txBody>
      </p:sp>
      <p:sp>
        <p:nvSpPr>
          <p:cNvPr id="10" name="Text 8"/>
          <p:cNvSpPr/>
          <p:nvPr/>
        </p:nvSpPr>
        <p:spPr>
          <a:xfrm>
            <a:off x="457200" y="301752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الأسئلة الذكية أقوى من الإجابات الذكية</a:t>
            </a:r>
            <a:endParaRPr lang="en-US" sz="2000" dirty="0"/>
          </a:p>
        </p:txBody>
      </p:sp>
      <p:sp>
        <p:nvSpPr>
          <p:cNvPr id="11" name="Shape 9"/>
          <p:cNvSpPr/>
          <p:nvPr/>
        </p:nvSpPr>
        <p:spPr>
          <a:xfrm>
            <a:off x="10972800" y="4297680"/>
            <a:ext cx="640080" cy="548640"/>
          </a:xfrm>
          <a:prstGeom prst="rect">
            <a:avLst/>
          </a:prstGeom>
          <a:solidFill>
            <a:srgbClr val="C9A84C"/>
          </a:solidFill>
          <a:ln/>
        </p:spPr>
      </p:sp>
      <p:sp>
        <p:nvSpPr>
          <p:cNvPr id="12" name="Text 10"/>
          <p:cNvSpPr/>
          <p:nvPr/>
        </p:nvSpPr>
        <p:spPr>
          <a:xfrm>
            <a:off x="10972800" y="429768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3</a:t>
            </a:r>
            <a:endParaRPr lang="en-US" sz="1800" dirty="0"/>
          </a:p>
        </p:txBody>
      </p:sp>
      <p:sp>
        <p:nvSpPr>
          <p:cNvPr id="13" name="Text 11"/>
          <p:cNvSpPr/>
          <p:nvPr/>
        </p:nvSpPr>
        <p:spPr>
          <a:xfrm>
            <a:off x="457200" y="429768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أريدك أن تعود إلى المحاضرة الأولى</a:t>
            </a:r>
            <a:endParaRPr lang="en-US" sz="2000" dirty="0"/>
          </a:p>
        </p:txBody>
      </p:sp>
      <p:sp>
        <p:nvSpPr>
          <p:cNvPr id="14" name="Shape 12"/>
          <p:cNvSpPr/>
          <p:nvPr/>
        </p:nvSpPr>
        <p:spPr>
          <a:xfrm>
            <a:off x="0" y="6537960"/>
            <a:ext cx="12188952" cy="320040"/>
          </a:xfrm>
          <a:prstGeom prst="rect">
            <a:avLst/>
          </a:prstGeom>
          <a:solidFill>
            <a:srgbClr val="C9A84C"/>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2026-06-13T14:16:03Z</dcterms:created>
  <dcterms:modified xsi:type="dcterms:W3CDTF">2026-06-13T14:16:03Z</dcterms:modified>
</cp:coreProperties>
</file>