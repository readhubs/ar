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الثالث. الآن وقد بنيت أساساً قوياً في الثقة والمظهر والعيون، حان وقت أسرار لغة الجسد المتقدمة. هذه الأسرار يستخدمها القادة والمؤثرون حول العالم دون أن يلاحظها أحد.
لغة الجسد ليست مجرد حركات عشوائية. هي لغة كاملة. وهناك أوضاع تظهر القوة، وأخرى تظهر الضعف. الفرق بينهما قد يكون سنتيمترات قليلة.
دعني أبدأ بالأوضاع القوية التي يجب أن تتخذها:
الوضعية الأولى: أخذ مساحة أكبر مما تحتاج. الحيوانات في الطبيعة، عندما تريد إظهار القوة، تنفخ صدرها وتجعل نفسها تبدو أكبر. الإنسان يفعل نفس الشيء دون وعي. عندما تجلس على كرسي، لا تضم جسدك إلى بعضه. افتح ذراعيك قليلاً. ضع ذراعاً على مسند الكرسي المجاور. مد قدميك قليلاً إلى الأمام. هذه المساحة الزائدة تشير للآخرين أنك مرتاح وواثق. أما الجلوس في أضيق وضع ممكن فتشير إلى الخوف وعدم الأمان.
الوضعية الثانية: الكتفان للخلف والصدر للخارج. هذه هي وضعية الفخر. عندما تحقق إنجازاً، ماذا تفعل تلقائياً؟ ترفع رأسك وتفرد صدرك. هذا ما يفعله الرياضيون بعد الفوز. تدرب على هذه الوضعية. قف، اجعل كتفيك للخلف كثيراً حتى تشعر أن صدرك بارز. الآن انظر إلى المرآة. تبدو واثقاً، أليس كذلك؟ هذه الوضعية تغير أيضاً الطريقة التي تشعر بها بها. هناك دراسة شهيرة: الأشخاص الذين جلسوا بوضعية القوة لمدة دقيقتين فقط ارتفعت لديهم هرمونات القوة (التستوستيرون) وانخفضت هرمونات التوتر (الكورتيزول). دقيقتان فقط تغيران كيمياء جسمك.
الوضعية الثالثة: الرأس مرفوع والذقن موازٍ للأرض. الرأس المرفوع عالياً جداً يبدو متغطرساً. الرأس المنخفض يبدو خائفاً. الذقن الموازي للأرض هو التوازن المثالي. تدرب على هذا: قف أمام المرآة. اخفض ذقنك كثيراً نحو صدرك. انظر كيف تبدو ضعيفاً. الآن ارفع ذقنك عالياً جداً. انظر كيف تبدو متغطرساً. الآن اجعل ذقنك موازياً للأرض. هذا هو الوجه القوي الواثق.
الوضعية الرابعة: الأيدي على الخصر. هذه الوضعية التي تشبه "سوبرمان" أو "المرأة الخارقة". المرفقان إلى الخارج، اليدان على الخصر. هذه واحدة من أقوى وضعيات القوة. لكن احذر: استخدمها فقط عندما تكون واثقاً بالفعل ولا تريد أن تظهر متحدياً. مناسبة للمواقف التي تريد فيها إظهار الاستعداد والثقة، مثل بداية عرض تقديمي.
أما بالنسبة للأوضاع التي يجب تجنبها تماماً:
التجنب الأول: وضعية القرفصاء أو لف الساقين حول بعضهما البعض. هذه وضعية دفاعية تعني "أنا خائف، أنا منكمش، لا أثق بك". بدلاً من ذلك، اجلس وقدمك على الأرض وقدم الأخرى متقاطعة براحة على الركبة.
التجنب الثاني: الأيدي خلف الظهر. هذه الوضعية التي تشبه الجنود في الوقوف الاحترامي. للوهلة الأولى تبدو محترمة، لكنها في الحقيقة تخفي يديك وتجعلك تبدو غير منفتح. بدلاً من ذلك، اترك يديك على جانبيك أو استخدمهما في الإشارات.
التجنب الثالث: العبث بالأشياء. قلم، مفاتيح، شعرك، ملابسك. أي حركة متكررة وليس لها معنى تشير إلى التوتر والقلق. وإذا كنت تفعلها أثناء محاولة إقناع شخص، فهو سيشعر بعدم صدقك. الحل: أبقِ يديك مشغولتين بشيء مفيد، أو اجلس عليهما إذا كنت متوتراً جداً.
التجنب الرابع: الاحتكاك بالرقبة أو الذراعين. هذه إشارات تهدئة ذاتية. عندما نتوتر، نفرك رقبتنا أو أذرعنا. هذا يهدئنا ولكن يكشف توترنا. بدلاً من ذلك، خذ نفساً عميقاً وتظاهر بالثقة حتى تهدأ.
التمرين العملي لهذه المحاضرة: قم بجولة في منزلك أو مكتبك. انظر إلى الناس من حولك دون أن يشعروا. لاحظ وضعياتهم. كم شخصاً يتخذ وضعية القوة؟ كم شخصاً يتخذ وضعية الضعف؟ الآن، قم بتصحيح وضعيتك أنت. قف الآن، اتخذ وضعية القوة الكاملة: كتفان للخلف، صدر بارز، ذقن موازٍ، يد على خصر واحدة (أو على جانبيك)، أخذ مساحة. ابقَ على هذه الوضعية لمدة دقيقتين. اضبط مؤقتاً. اشعر بثقتك تزداد.
في المحاضرة القادمة، سنتعلم عن حركات اليدين تحديداً. متى تستخدمها ومتى تتوقف. وما هي الإشارات التي ترسلها حركات يديك دون أن تدرك.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الثالث. الآن وقد بنيت أساساً قوياً في الثقة والمظهر والعيون، حان وقت أسرار لغة الجسد المتقدمة. هذه الأسرار يستخدمها القادة والمؤثرون حول العالم دون أن يلاحظها أحد.
لغة الجسد ليست مجرد حركات عشوائية. هي لغة كاملة. وهناك أوضاع تظهر القوة، وأخرى تظهر الضعف. الفرق بينهما قد يكون سنتيمترات قليلة.
دعني أبدأ بالأوضاع القوية التي يجب أن تتخذها:
الوضعية الأولى: أخذ مساحة أكبر مما تحتاج. الحيوانات في الطبيعة، عندما تريد إظهار القوة، تنفخ صدرها وتجعل نفسها تبدو أكبر. الإنسان يفعل نفس الشيء دون وعي. عندما تجلس على كرسي، لا تضم جسدك إلى بعضه. افتح ذراعيك قليلاً. ضع ذراعاً على مسند الكرسي المجاور. مد قدميك قليلاً إلى الأمام. هذه المساحة الزائدة تشير للآخرين أنك مرتاح وواثق. أما الجلوس في أضيق وضع ممكن فتشير إلى الخوف وعدم الأمان.
الوضعية الثانية: الكتفان للخلف والصدر للخارج. هذه هي وضعية الفخر. عندما تحقق إنجازاً، ماذا تفعل تلقائياً؟ ترفع رأسك وتفرد صدرك. هذا ما يفعله الرياضيون بعد الفوز. تدرب على هذه الوضعية. قف، اجعل كتفيك للخلف كثيراً حتى تشعر أن صدرك بارز. الآن انظر إلى المرآة. تبدو واثقاً، أليس كذلك؟ هذه الوضعية تغير أيضاً الطريقة التي تشعر بها بها. هناك دراسة شهيرة: الأشخاص الذين جلسوا بوضعية القوة لمدة دقيقتين فقط ارتفعت لديهم هرمونات القوة (التستوستيرون) وانخفضت هرمونات التوتر (الكورتيزول). دقيقتان فقط تغيران كيمياء جسمك.
الوضعية الثالثة: الرأس مرفوع والذقن موازٍ للأرض. الرأس المرفوع عالياً جداً يبدو متغطرساً. الرأس المنخفض يبدو خائفاً. الذقن الموازي للأرض هو التوازن المثالي. تدرب على هذا: قف أمام المرآة. اخفض ذقنك كثيراً نحو صدرك. انظر كيف تبدو ضعيفاً. الآن ارفع ذقنك عالياً جداً. انظر كيف تبدو متغطرساً. الآن اجعل ذقنك موازياً للأرض. هذا هو الوجه القوي الواثق.
الوضعية الرابعة: الأيدي على الخصر. هذه الوضعية التي تشبه "سوبرمان" أو "المرأة الخارقة". المرفقان إلى الخارج، اليدان على الخصر. هذه واحدة من أقوى وضعيات القوة. لكن احذر: استخدمها فقط عندما تكون واثقاً بالفعل ولا تريد أن تظهر متحدياً. مناسبة للمواقف التي تريد فيها إظهار الاستعداد والثقة، مثل بداية عرض تقديمي.
أما بالنسبة للأوضاع التي يجب تجنبها تماماً:
التجنب الأول: وضعية القرفصاء أو لف الساقين حول بعضهما البعض. هذه وضعية دفاعية تعني "أنا خائف، أنا منكمش، لا أثق بك". بدلاً من ذلك، اجلس وقدمك على الأرض وقدم الأخرى متقاطعة براحة على الركبة.
التجنب الثاني: الأيدي خلف الظهر. هذه الوضعية التي تشبه الجنود في الوقوف الاحترامي. للوهلة الأولى تبدو محترمة، لكنها في الحقيقة تخفي يديك وتجعلك تبدو غير منفتح. بدلاً من ذلك، اترك يديك على جانبيك أو استخدمهما في الإشارات.
التجنب الثالث: العبث بالأشياء. قلم، مفاتيح، شعرك، ملابسك. أي حركة متكررة وليس لها معنى تشير إلى التوتر والقلق. وإذا كنت تفعلها أثناء محاولة إقناع شخص، فهو سيشعر بعدم صدقك. الحل: أبقِ يديك مشغولتين بشيء مفيد، أو اجلس عليهما إذا كنت متوتراً جداً.
التجنب الرابع: الاحتكاك بالرقبة أو الذراعين. هذه إشارات تهدئة ذاتية. عندما نتوتر، نفرك رقبتنا أو أذرعنا. هذا يهدئنا ولكن يكشف توترنا. بدلاً من ذلك، خذ نفساً عميقاً وتظاهر بالثقة حتى تهدأ.
التمرين العملي لهذه المحاضرة: قم بجولة في منزلك أو مكتبك. انظر إلى الناس من حولك دون أن يشعروا. لاحظ وضعياتهم. كم شخصاً يتخذ وضعية القوة؟ كم شخصاً يتخذ وضعية الضعف؟ الآن، قم بتصحيح وضعيتك أنت. قف الآن، اتخذ وضعية القوة الكاملة: كتفان للخلف، صدر بارز، ذقن موازٍ، يد على خصر واحدة (أو على جانبيك)، أخذ مساحة. ابقَ على هذه الوضعية لمدة دقيقتين. اضبط مؤقتاً. اشعر بثقتك تزداد.
في المحاضرة القادمة، سنتعلم عن حركات اليدين تحديداً. متى تستخدمها ومتى تتوقف. وما هي الإشارات التي ترسلها حركات يديك دون أن تدرك.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الثالث. الآن وقد بنيت أساساً قوياً في الثقة والمظهر والعيون، حان وقت أسرار لغة الجسد المتقدمة. هذه الأسرار يستخدمها القادة والمؤثرون حول العالم دون أن يلاحظها أحد.
لغة الجسد ليست مجرد حركات عشوائية. هي لغة كاملة. وهناك أوضاع تظهر القوة، وأخرى تظهر الضعف. الفرق بينهما قد يكون سنتيمترات قليلة.
دعني أبدأ بالأوضاع القوية التي يجب أن تتخذها:
الوضعية الأولى: أخذ مساحة أكبر مما تحتاج. الحيوانات في الطبيعة، عندما تريد إظهار القوة، تنفخ صدرها وتجعل نفسها تبدو أكبر. الإنسان يفعل نفس الشيء دون وعي. عندما تجلس على كرسي، لا تضم جسدك إلى بعضه. افتح ذراعيك قليلاً. ضع ذراعاً على مسند الكرسي المجاور. مد قدميك قليلاً إلى الأمام. هذه المساحة الزائدة تشير للآخرين أنك مرتاح وواثق. أما الجلوس في أضيق وضع ممكن فتشير إلى الخوف وعدم الأمان.
الوضعية الثانية: الكتفان للخلف والصدر للخارج. هذه هي وضعية الفخر. عندما تحقق إنجازاً، ماذا تفعل تلقائياً؟ ترفع رأسك وتفرد صدرك. هذا ما يفعله الرياضيون بعد الفوز. تدرب على هذه الوضعية. قف، اجعل كتفيك للخلف كثيراً حتى تشعر أن صدرك بارز. الآن انظر إلى المرآة. تبدو واثقاً، أليس كذلك؟ هذه الوضعية تغير أيضاً الطريقة التي تشعر بها بها. هناك دراسة شهيرة: الأشخاص الذين جلسوا بوضعية القوة لمدة دقيقتين فقط ارتفعت لديهم هرمونات القوة (التستوستيرون) وانخفضت هرمونات التوتر (الكورتيزول). دقيقتان فقط تغيران كيمياء جسمك.
الوضعية الثالثة: الرأس مرفوع والذقن موازٍ للأرض. الرأس المرفوع عالياً جداً يبدو متغطرساً. الرأس المنخفض يبدو خائفاً. الذقن الموازي للأرض هو التوازن المثالي. تدرب على هذا: قف أمام المرآة. اخفض ذقنك كثيراً نحو صدرك. انظر كيف تبدو ضعيفاً. الآن ارفع ذقنك عالياً جداً. انظر كيف تبدو متغطرساً. الآن اجعل ذقنك موازياً للأرض. هذا هو الوجه القوي الواثق.
الوضعية الرابعة: الأيدي على الخصر. هذه الوضعية التي تشبه "سوبرمان" أو "المرأة الخارقة". المرفقان إلى الخارج، اليدان على الخصر. هذه واحدة من أقوى وضعيات القوة. لكن احذر: استخدمها فقط عندما تكون واثقاً بالفعل ولا تريد أن تظهر متحدياً. مناسبة للمواقف التي تريد فيها إظهار الاستعداد والثقة، مثل بداية عرض تقديمي.
أما بالنسبة للأوضاع التي يجب تجنبها تماماً:
التجنب الأول: وضعية القرفصاء أو لف الساقين حول بعضهما البعض. هذه وضعية دفاعية تعني "أنا خائف، أنا منكمش، لا أثق بك". بدلاً من ذلك، اجلس وقدمك على الأرض وقدم الأخرى متقاطعة براحة على الركبة.
التجنب الثاني: الأيدي خلف الظهر. هذه الوضعية التي تشبه الجنود في الوقوف الاحترامي. للوهلة الأولى تبدو محترمة، لكنها في الحقيقة تخفي يديك وتجعلك تبدو غير منفتح. بدلاً من ذلك، اترك يديك على جانبيك أو استخدمهما في الإشارات.
التجنب الثالث: العبث بالأشياء. قلم، مفاتيح، شعرك، ملابسك. أي حركة متكررة وليس لها معنى تشير إلى التوتر والقلق. وإذا كنت تفعلها أثناء محاولة إقناع شخص، فهو سيشعر بعدم صدقك. الحل: أبقِ يديك مشغولتين بشيء مفيد، أو اجلس عليهما إذا كنت متوتراً جداً.
التجنب الرابع: الاحتكاك بالرقبة أو الذراعين. هذه إشارات تهدئة ذاتية. عندما نتوتر، نفرك رقبتنا أو أذرعنا. هذا يهدئنا ولكن يكشف توترنا. بدلاً من ذلك، خذ نفساً عميقاً وتظاهر بالثقة حتى تهدأ.
التمرين العملي لهذه المحاضرة: قم بجولة في منزلك أو مكتبك. انظر إلى الناس من حولك دون أن يشعروا. لاحظ وضعياتهم. كم شخصاً يتخذ وضعية القوة؟ كم شخصاً يتخذ وضعية الضعف؟ الآن، قم بتصحيح وضعيتك أنت. قف الآن، اتخذ وضعية القوة الكاملة: كتفان للخلف، صدر بارز، ذقن موازٍ، يد على خصر واحدة (أو على جانبيك)، أخذ مساحة. ابقَ على هذه الوضعية لمدة دقيقتين. اضبط مؤقتاً. اشعر بثقتك تزداد.
في المحاضرة القادمة، سنتعلم عن حركات اليدين تحديداً. متى تستخدمها ومتى تتوقف. وما هي الإشارات التي ترسلها حركات يديك دون أن تدرك.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بك في القسم الثالث. الآن وقد بنيت أساساً قوياً في الثقة والمظهر والعيون، حان وقت أسرار لغة الجسد المتقدمة. هذه الأسرار يستخدمها القادة والمؤثرون حول العالم دون أن يلاحظها أحد.
لغة الجسد ليست مجرد حركات عشوائية. هي لغة كاملة. وهناك أوضاع تظهر القوة، وأخرى تظهر الضعف. الفرق بينهما قد يكون سنتيمترات قليلة.
دعني أبدأ بالأوضاع القوية التي يجب أن تتخذها:
الوضعية الأولى: أخذ مساحة أكبر مما تحتاج. الحيوانات في الطبيعة، عندما تريد إظهار القوة، تنفخ صدرها وتجعل نفسها تبدو أكبر. الإنسان يفعل نفس الشيء دون وعي. عندما تجلس على كرسي، لا تضم جسدك إلى بعضه. افتح ذراعيك قليلاً. ضع ذراعاً على مسند الكرسي المجاور. مد قدميك قليلاً إلى الأمام. هذه المساحة الزائدة تشير للآخرين أنك مرتاح وواثق. أما الجلوس في أضيق وضع ممكن فتشير إلى الخوف وعدم الأمان.
الوضعية الثانية: الكتفان للخلف والصدر للخارج. هذه هي وضعية الفخر. عندما تحقق إنجازاً، ماذا تفعل تلقائياً؟ ترفع رأسك وتفرد صدرك. هذا ما يفعله الرياضيون بعد الفوز. تدرب على هذه الوضعية. قف، اجعل كتفيك للخلف كثيراً حتى تشعر أن صدرك بارز. الآن انظر إلى المرآة. تبدو واثقاً، أليس كذلك؟ هذه الوضعية تغير أيضاً الطريقة التي تشعر بها بها. هناك دراسة شهيرة: الأشخاص الذين جلسوا بوضعية القوة لمدة دقيقتين فقط ارتفعت لديهم هرمونات القوة (التستوستيرون) وانخفضت هرمونات التوتر (الكورتيزول). دقيقتان فقط تغيران كيمياء جسمك.
الوضعية الثالثة: الرأس مرفوع والذقن موازٍ للأرض. الرأس المرفوع عالياً جداً يبدو متغطرساً. الرأس المنخفض يبدو خائفاً. الذقن الموازي للأرض هو التوازن المثالي. تدرب على هذا: قف أمام المرآة. اخفض ذقنك كثيراً نحو صدرك. انظر كيف تبدو ضعيفاً. الآن ارفع ذقنك عالياً جداً. انظر كيف تبدو متغطرساً. الآن اجعل ذقنك موازياً للأرض. هذا هو الوجه القوي الواثق.
الوضعية الرابعة: الأيدي على الخصر. هذه الوضعية التي تشبه "سوبرمان" أو "المرأة الخارقة". المرفقان إلى الخارج، اليدان على الخصر. هذه واحدة من أقوى وضعيات القوة. لكن احذر: استخدمها فقط عندما تكون واثقاً بالفعل ولا تريد أن تظهر متحدياً. مناسبة للمواقف التي تريد فيها إظهار الاستعداد والثقة، مثل بداية عرض تقديمي.
أما بالنسبة للأوضاع التي يجب تجنبها تماماً:
التجنب الأول: وضعية القرفصاء أو لف الساقين حول بعضهما البعض. هذه وضعية دفاعية تعني "أنا خائف، أنا منكمش، لا أثق بك". بدلاً من ذلك، اجلس وقدمك على الأرض وقدم الأخرى متقاطعة براحة على الركبة.
التجنب الثاني: الأيدي خلف الظهر. هذه الوضعية التي تشبه الجنود في الوقوف الاحترامي. للوهلة الأولى تبدو محترمة، لكنها في الحقيقة تخفي يديك وتجعلك تبدو غير منفتح. بدلاً من ذلك، اترك يديك على جانبيك أو استخدمهما في الإشارات.
التجنب الثالث: العبث بالأشياء. قلم، مفاتيح، شعرك، ملابسك. أي حركة متكررة وليس لها معنى تشير إلى التوتر والقلق. وإذا كنت تفعلها أثناء محاولة إقناع شخص، فهو سيشعر بعدم صدقك. الحل: أبقِ يديك مشغولتين بشيء مفيد، أو اجلس عليهما إذا كنت متوتراً جداً.
التجنب الرابع: الاحتكاك بالرقبة أو الذراعين. هذه إشارات تهدئة ذاتية. عندما نتوتر، نفرك رقبتنا أو أذرعنا. هذا يهدئنا ولكن يكشف توترنا. بدلاً من ذلك، خذ نفساً عميقاً وتظاهر بالثقة حتى تهدأ.
التمرين العملي لهذه المحاضرة: قم بجولة في منزلك أو مكتبك. انظر إلى الناس من حولك دون أن يشعروا. لاحظ وضعياتهم. كم شخصاً يتخذ وضعية القوة؟ كم شخصاً يتخذ وضعية الضعف؟ الآن، قم بتصحيح وضعيتك أنت. قف الآن، اتخذ وضعية القوة الكاملة: كتفان للخلف، صدر بارز، ذقن موازٍ، يد على خصر واحدة (أو على جانبيك)، أخذ مساحة. ابقَ على هذه الوضعية لمدة دقيقتين. اضبط مؤقتاً. اشعر بثقتك تزداد.
في المحاضرة القادمة، سنتعلم عن حركات اليدين تحديداً. متى تستخدمها ومتى تتوقف. وما هي الإشارات التي ترسلها حركات يديك دون أن تدرك.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ملخص المحاضرة 9: الوضعيات التي تظهر القوة والثقة (وما يجب تجنبه)
أهلاً بك في القسم الثالث. الآن وقد بنيت أساساً قوياً في الثقة والمظهر والعيون، حان وقت أسرار لغة الجسد المتقدمة. هذه الأسرار يستخدمها القادة والمؤثرون حول العالم دون أن يلاحظها أحد.
لغة الجسد ليست مجرد حركات عشوائية. هي لغة كاملة. وهناك أوضاع تظهر القوة، وأخرى تظهر الضعف. الفرق بينهما قد يكون سنتيمترات قليلة.
دعني أبدأ بالأوضاع القوية التي يجب أن تتخذها:
الوضعية الأولى: أخذ مساحة أكبر مما تحتاج. الحيوانات في الطبيعة، عندما تريد إظهار القوة، تنفخ صدرها وتجعل نفسها تبدو أكبر. الإنسان يفعل نفس الشيء دون وعي. عندما تجلس على كرسي، لا تضم جسدك إلى بعضه. افتح ذراعيك قليلاً. ضع ذراعاً على مسند الكرسي المجاور. مد قدميك قليلاً إلى الأمام. هذه المساحة الزائدة تشير للآخرين أنك مرتاح وواثق. أما الجلوس في أضيق وضع ممكن فتشير إلى الخوف وعدم الأمان.
الوضعية الثانية: الكتفان للخلف والصدر للخارج. هذه هي وضعية الفخر. عندما تحقق إنجازاً، ماذا تفعل تلقائياً؟ ترفع رأسك وتفرد صدرك. هذا ما يفعله الرياضيون بعد الفوز. تدرب على هذه الوضعية. قف، اجعل كتفيك للخلف كثيراً حتى تشعر أن صدرك بارز. الآن انظر إلى المرآة. تبدو واثقاً، أليس كذلك؟ هذه الوضعية تغير أيضاً الطريقة التي تشعر بها بها. هناك دراسة شهيرة: الأشخاص الذين جلسوا بوضعية القوة لمدة دقيقتين فقط ارتفعت لديهم هرمونات القوة (التستوستيرون) وانخفضت هرمونات التوتر (الكورتيزول). دقيقتان فقط تغيران كيمياء جسمك.
الوضعية الثالثة: الرأس مرفوع والذقن موازٍ للأرض. الرأس المرفوع عالياً جداً يبدو متغطرساً. الرأس المنخفض يبدو خائفاً. الذقن الموازي للأرض هو التوازن المثالي. تدرب على هذا: قف أمام المرآة. اخفض ذقنك كثيراً نحو صدرك. انظر كيف تبدو ضعيفاً. الآن ارفع ذقنك عالياً جداً. انظر كيف تبدو متغطرساً. الآن اجعل ذقنك موازياً للأرض. هذا هو الوجه القوي الواثق.
الوضعية الرابعة: الأيدي على الخصر. هذه الوضعية التي تشبه "سوبرمان" أو "المرأة الخارقة". المرفقان إلى الخارج، اليدان على الخصر. هذه واحدة من أقوى وضعيات القوة. لكن احذر: استخدمها فقط عندما تكون واثقاً بالفعل ولا تريد أن تظهر متحدياً. مناسبة للمواقف التي تريد فيها إظهار الاستعداد والثقة، مثل بداية عرض تقديمي.
أما بالنسبة للأوضاع التي يجب تجنبها تماماً:
التجنب الأول: وضعية القرفصاء أو لف الساقين حول بعضهما البعض. هذه وضعية دفاعية تعني "أنا خائف، أنا منكمش، لا أثق بك". بدلاً من ذلك، اجلس وقدمك على الأرض وقدم الأخرى متقاطعة براحة على الركبة.
التجنب الثاني: الأيدي خلف الظهر. هذه الوضعية التي تشبه الجنود في الوقوف الاحترامي. للوهلة الأولى تبدو محترمة، لكنها في الحقيقة تخفي يديك وتجعلك تبدو غير منفتح. بدلاً من ذلك، اترك يديك على جانبيك أو استخدمهما في الإشارات.
التجنب الثالث: العبث بالأشياء. قلم، مفاتيح، شعرك، ملابسك. أي حركة متكررة وليس لها معنى تشير إلى التوتر والقلق. وإذا كنت تفعلها أثناء محاولة إقناع شخص، فهو سيشعر بعدم صدقك. الحل: أبقِ يديك مشغولتين بشيء مفيد، أو اجلس عليهما إذا كنت متوتراً جداً.
التجنب الرابع: الاحتكاك بالرقبة أو الذراعين. هذه إشارات تهدئة ذاتية. عندما نتوتر، نفرك رقبتنا أو أذرعنا. هذا يهدئنا ولكن يكشف توترنا. بدلاً من ذلك، خذ نفساً عميقاً وتظاهر بالثقة حتى تهدأ.
التمرين العملي لهذه المحاضرة: قم بجولة في منزلك أو مكتبك. انظر إلى الناس من حولك دون أن يشعروا. لاحظ وضعياتهم. كم شخصاً يتخذ وضعية القوة؟ كم شخصاً يتخذ وضعية الضعف؟ الآن، قم بتصحيح وضعيتك أنت. قف الآن، اتخذ وضعية القوة الكاملة: كتفان للخلف، صدر بارز، ذقن موازٍ، يد على خصر واحدة (أو على جانبيك)، أخذ مساحة. ابقَ على هذه الوضعية لمدة دقيقتين. اضبط مؤقتاً. اشعر بثقتك تزداد.
في المحاضرة القادمة، سنتعلم عن حركات اليدين تحديداً. متى تستخدمها ومتى تتوقف. وما هي الإشارات التي ترسلها حركات يديك دون أن تدرك. تابع.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6217920"/>
            <a:ext cx="12188952" cy="640080"/>
          </a:xfrm>
          <a:prstGeom prst="rect">
            <a:avLst/>
          </a:prstGeom>
          <a:solidFill>
            <a:srgbClr val="C9A84C"/>
          </a:solidFill>
          <a:ln/>
        </p:spPr>
      </p:sp>
      <p:sp>
        <p:nvSpPr>
          <p:cNvPr id="3" name="Shape 1"/>
          <p:cNvSpPr/>
          <p:nvPr/>
        </p:nvSpPr>
        <p:spPr>
          <a:xfrm>
            <a:off x="5184648" y="1371600"/>
            <a:ext cx="1828800" cy="548640"/>
          </a:xfrm>
          <a:prstGeom prst="rect">
            <a:avLst/>
          </a:prstGeom>
          <a:solidFill>
            <a:srgbClr val="C9A84C"/>
          </a:solidFill>
          <a:ln w="12700">
            <a:solidFill>
              <a:srgbClr val="C9A84C"/>
            </a:solidFill>
            <a:prstDash val="solid"/>
          </a:ln>
        </p:spPr>
      </p:sp>
      <p:sp>
        <p:nvSpPr>
          <p:cNvPr id="4" name="Text 2"/>
          <p:cNvSpPr/>
          <p:nvPr/>
        </p:nvSpPr>
        <p:spPr>
          <a:xfrm>
            <a:off x="5184648" y="1371600"/>
            <a:ext cx="1828800" cy="54864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المحاضرة 9</a:t>
            </a:r>
            <a:endParaRPr lang="en-US" sz="1400" dirty="0"/>
          </a:p>
        </p:txBody>
      </p:sp>
      <p:sp>
        <p:nvSpPr>
          <p:cNvPr id="5" name="Shape 3"/>
          <p:cNvSpPr/>
          <p:nvPr/>
        </p:nvSpPr>
        <p:spPr>
          <a:xfrm>
            <a:off x="7315200" y="1371600"/>
            <a:ext cx="1371600" cy="548640"/>
          </a:xfrm>
          <a:prstGeom prst="rect">
            <a:avLst/>
          </a:prstGeom>
          <a:solidFill>
            <a:srgbClr val="162338"/>
          </a:solidFill>
          <a:ln w="12700">
            <a:solidFill>
              <a:srgbClr val="C9A84C"/>
            </a:solidFill>
            <a:prstDash val="solid"/>
          </a:ln>
        </p:spPr>
      </p:sp>
      <p:sp>
        <p:nvSpPr>
          <p:cNvPr id="6" name="Text 4"/>
          <p:cNvSpPr/>
          <p:nvPr/>
        </p:nvSpPr>
        <p:spPr>
          <a:xfrm>
            <a:off x="7315200" y="1371600"/>
            <a:ext cx="1371600" cy="548640"/>
          </a:xfrm>
          <a:prstGeom prst="rect">
            <a:avLst/>
          </a:prstGeom>
          <a:noFill/>
          <a:ln/>
        </p:spPr>
        <p:txBody>
          <a:bodyPr wrap="square" rtlCol="0" anchor="ctr"/>
          <a:lstStyle/>
          <a:p>
            <a:pPr algn="ctr" indent="0" marL="0">
              <a:buNone/>
            </a:pPr>
            <a:r>
              <a:rPr lang="en-US" sz="1300" dirty="0">
                <a:solidFill>
                  <a:srgbClr val="C9A84C"/>
                </a:solidFill>
                <a:latin typeface="Arial" pitchFamily="34" charset="0"/>
                <a:ea typeface="Arial" pitchFamily="34" charset="-122"/>
                <a:cs typeface="Arial" pitchFamily="34" charset="-120"/>
              </a:rPr>
              <a:t>18 دقيقة</a:t>
            </a:r>
            <a:endParaRPr lang="en-US" sz="1300" dirty="0"/>
          </a:p>
        </p:txBody>
      </p:sp>
      <p:sp>
        <p:nvSpPr>
          <p:cNvPr id="7" name="Text 5"/>
          <p:cNvSpPr/>
          <p:nvPr/>
        </p:nvSpPr>
        <p:spPr>
          <a:xfrm>
            <a:off x="914400" y="2286000"/>
            <a:ext cx="10360152" cy="2286000"/>
          </a:xfrm>
          <a:prstGeom prst="rect">
            <a:avLst/>
          </a:prstGeom>
          <a:noFill/>
          <a:ln/>
        </p:spPr>
        <p:txBody>
          <a:bodyPr wrap="square" rtlCol="0" anchor="ctr"/>
          <a:lstStyle/>
          <a:p>
            <a:pPr rtl="1" algn="ctr" indent="0" marL="0">
              <a:buNone/>
            </a:pPr>
            <a:r>
              <a:rPr lang="en-US" sz="3600" b="1" dirty="0">
                <a:solidFill>
                  <a:srgbClr val="C9A84C"/>
                </a:solidFill>
                <a:latin typeface="Arial" pitchFamily="34" charset="0"/>
                <a:ea typeface="Arial" pitchFamily="34" charset="-122"/>
                <a:cs typeface="Arial" pitchFamily="34" charset="-120"/>
              </a:rPr>
              <a:t>الوضعيات التي تظهر القوة والثقة (وما يجب تجنبه)</a:t>
            </a:r>
            <a:endParaRPr lang="en-US" sz="3600" dirty="0"/>
          </a:p>
        </p:txBody>
      </p:sp>
      <p:sp>
        <p:nvSpPr>
          <p:cNvPr id="8" name="Text 6"/>
          <p:cNvSpPr/>
          <p:nvPr/>
        </p:nvSpPr>
        <p:spPr>
          <a:xfrm>
            <a:off x="0" y="6263640"/>
            <a:ext cx="12188952" cy="502920"/>
          </a:xfrm>
          <a:prstGeom prst="rect">
            <a:avLst/>
          </a:prstGeom>
          <a:noFill/>
          <a:ln/>
        </p:spPr>
        <p:txBody>
          <a:bodyPr wrap="square" rtlCol="0" anchor="ctr"/>
          <a:lstStyle/>
          <a:p>
            <a:pPr algn="ctr" indent="0" marL="0">
              <a:buNone/>
            </a:pPr>
            <a:r>
              <a:rPr lang="en-US" sz="1400" b="1" dirty="0">
                <a:solidFill>
                  <a:srgbClr val="0F1B2D"/>
                </a:solidFill>
                <a:latin typeface="Arial" pitchFamily="34" charset="0"/>
                <a:ea typeface="Arial" pitchFamily="34" charset="-122"/>
                <a:cs typeface="Arial" pitchFamily="34" charset="-120"/>
              </a:rPr>
              <a:t>Readhubs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وضعيات القوة</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أخذ مساحة أكبر مما تحتاج</a:t>
            </a:r>
            <a:endParaRPr lang="en-US" sz="2200" dirty="0"/>
          </a:p>
        </p:txBody>
      </p:sp>
      <p:sp>
        <p:nvSpPr>
          <p:cNvPr id="8" name="Shape 6"/>
          <p:cNvSpPr/>
          <p:nvPr/>
        </p:nvSpPr>
        <p:spPr>
          <a:xfrm>
            <a:off x="11430000" y="3215640"/>
            <a:ext cx="182880" cy="182880"/>
          </a:xfrm>
          <a:prstGeom prst="ellipse">
            <a:avLst/>
          </a:prstGeom>
          <a:solidFill>
            <a:srgbClr val="C9A84C"/>
          </a:solidFill>
          <a:ln/>
        </p:spPr>
      </p:sp>
      <p:sp>
        <p:nvSpPr>
          <p:cNvPr id="9" name="Text 7"/>
          <p:cNvSpPr/>
          <p:nvPr/>
        </p:nvSpPr>
        <p:spPr>
          <a:xfrm>
            <a:off x="457200" y="31699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كتفان للخلف، صدر للخارج</a:t>
            </a:r>
            <a:endParaRPr lang="en-US" sz="2200" dirty="0"/>
          </a:p>
        </p:txBody>
      </p:sp>
      <p:sp>
        <p:nvSpPr>
          <p:cNvPr id="10" name="Shape 8"/>
          <p:cNvSpPr/>
          <p:nvPr/>
        </p:nvSpPr>
        <p:spPr>
          <a:xfrm>
            <a:off x="11430000" y="4922520"/>
            <a:ext cx="182880" cy="182880"/>
          </a:xfrm>
          <a:prstGeom prst="ellipse">
            <a:avLst/>
          </a:prstGeom>
          <a:solidFill>
            <a:srgbClr val="C9A84C"/>
          </a:solidFill>
          <a:ln/>
        </p:spPr>
      </p:sp>
      <p:sp>
        <p:nvSpPr>
          <p:cNvPr id="11" name="Text 9"/>
          <p:cNvSpPr/>
          <p:nvPr/>
        </p:nvSpPr>
        <p:spPr>
          <a:xfrm>
            <a:off x="457200" y="48768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رأس مرفوع، ذقن موازٍ</a:t>
            </a:r>
            <a:endParaRPr lang="en-US" sz="2200" dirty="0"/>
          </a:p>
        </p:txBody>
      </p:sp>
      <p:sp>
        <p:nvSpPr>
          <p:cNvPr id="12" name="Shape 10"/>
          <p:cNvSpPr/>
          <p:nvPr/>
        </p:nvSpPr>
        <p:spPr>
          <a:xfrm>
            <a:off x="11430000" y="6629400"/>
            <a:ext cx="182880" cy="182880"/>
          </a:xfrm>
          <a:prstGeom prst="ellipse">
            <a:avLst/>
          </a:prstGeom>
          <a:solidFill>
            <a:srgbClr val="C9A84C"/>
          </a:solidFill>
          <a:ln/>
        </p:spPr>
      </p:sp>
      <p:sp>
        <p:nvSpPr>
          <p:cNvPr id="13" name="Text 11"/>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يد على الخصر (وضعية سوبرمان)</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2600" b="1" dirty="0">
                <a:solidFill>
                  <a:srgbClr val="FFFFFF"/>
                </a:solidFill>
                <a:latin typeface="Arial" pitchFamily="34" charset="0"/>
                <a:ea typeface="Arial" pitchFamily="34" charset="-122"/>
                <a:cs typeface="Arial" pitchFamily="34" charset="-120"/>
              </a:rPr>
              <a:t>وضعيات الضعف - تجنبها تماماً</a:t>
            </a:r>
            <a:endParaRPr lang="en-US" sz="2600" dirty="0"/>
          </a:p>
        </p:txBody>
      </p:sp>
      <p:sp>
        <p:nvSpPr>
          <p:cNvPr id="5" name="Shape 3"/>
          <p:cNvSpPr/>
          <p:nvPr/>
        </p:nvSpPr>
        <p:spPr>
          <a:xfrm>
            <a:off x="0" y="6537960"/>
            <a:ext cx="12188952" cy="320040"/>
          </a:xfrm>
          <a:prstGeom prst="rect">
            <a:avLst/>
          </a:prstGeom>
          <a:solidFill>
            <a:srgbClr val="C9A84C"/>
          </a:solidFill>
          <a:ln/>
        </p:spPr>
      </p:sp>
      <p:sp>
        <p:nvSpPr>
          <p:cNvPr id="6" name="Shape 4"/>
          <p:cNvSpPr/>
          <p:nvPr/>
        </p:nvSpPr>
        <p:spPr>
          <a:xfrm>
            <a:off x="11430000" y="1508760"/>
            <a:ext cx="182880" cy="182880"/>
          </a:xfrm>
          <a:prstGeom prst="ellipse">
            <a:avLst/>
          </a:prstGeom>
          <a:solidFill>
            <a:srgbClr val="C9A84C"/>
          </a:solidFill>
          <a:ln/>
        </p:spPr>
      </p:sp>
      <p:sp>
        <p:nvSpPr>
          <p:cNvPr id="7" name="Text 5"/>
          <p:cNvSpPr/>
          <p:nvPr/>
        </p:nvSpPr>
        <p:spPr>
          <a:xfrm>
            <a:off x="457200" y="146304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الأيدي المتقاطعة على الصدر</a:t>
            </a:r>
            <a:endParaRPr lang="en-US" sz="2200" dirty="0"/>
          </a:p>
        </p:txBody>
      </p:sp>
      <p:sp>
        <p:nvSpPr>
          <p:cNvPr id="8" name="Shape 6"/>
          <p:cNvSpPr/>
          <p:nvPr/>
        </p:nvSpPr>
        <p:spPr>
          <a:xfrm>
            <a:off x="11430000" y="2788920"/>
            <a:ext cx="182880" cy="182880"/>
          </a:xfrm>
          <a:prstGeom prst="ellipse">
            <a:avLst/>
          </a:prstGeom>
          <a:solidFill>
            <a:srgbClr val="C9A84C"/>
          </a:solidFill>
          <a:ln/>
        </p:spPr>
      </p:sp>
      <p:sp>
        <p:nvSpPr>
          <p:cNvPr id="9" name="Text 7"/>
          <p:cNvSpPr/>
          <p:nvPr/>
        </p:nvSpPr>
        <p:spPr>
          <a:xfrm>
            <a:off x="457200" y="274320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الأيدي خلف الظهر</a:t>
            </a:r>
            <a:endParaRPr lang="en-US" sz="2200" dirty="0"/>
          </a:p>
        </p:txBody>
      </p:sp>
      <p:sp>
        <p:nvSpPr>
          <p:cNvPr id="10" name="Shape 8"/>
          <p:cNvSpPr/>
          <p:nvPr/>
        </p:nvSpPr>
        <p:spPr>
          <a:xfrm>
            <a:off x="11430000" y="4069080"/>
            <a:ext cx="182880" cy="182880"/>
          </a:xfrm>
          <a:prstGeom prst="ellipse">
            <a:avLst/>
          </a:prstGeom>
          <a:solidFill>
            <a:srgbClr val="C9A84C"/>
          </a:solidFill>
          <a:ln/>
        </p:spPr>
      </p:sp>
      <p:sp>
        <p:nvSpPr>
          <p:cNvPr id="11" name="Text 9"/>
          <p:cNvSpPr/>
          <p:nvPr/>
        </p:nvSpPr>
        <p:spPr>
          <a:xfrm>
            <a:off x="457200" y="402336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الأيدي في الجيوب</a:t>
            </a:r>
            <a:endParaRPr lang="en-US" sz="2200" dirty="0"/>
          </a:p>
        </p:txBody>
      </p:sp>
      <p:sp>
        <p:nvSpPr>
          <p:cNvPr id="12" name="Shape 10"/>
          <p:cNvSpPr/>
          <p:nvPr/>
        </p:nvSpPr>
        <p:spPr>
          <a:xfrm>
            <a:off x="11430000" y="5349240"/>
            <a:ext cx="182880" cy="182880"/>
          </a:xfrm>
          <a:prstGeom prst="ellipse">
            <a:avLst/>
          </a:prstGeom>
          <a:solidFill>
            <a:srgbClr val="C9A84C"/>
          </a:solidFill>
          <a:ln/>
        </p:spPr>
      </p:sp>
      <p:sp>
        <p:nvSpPr>
          <p:cNvPr id="13" name="Text 11"/>
          <p:cNvSpPr/>
          <p:nvPr/>
        </p:nvSpPr>
        <p:spPr>
          <a:xfrm>
            <a:off x="457200" y="530352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العبث بالأشياء (قلم، مفاتيح، شعر)</a:t>
            </a:r>
            <a:endParaRPr lang="en-US" sz="2200" dirty="0"/>
          </a:p>
        </p:txBody>
      </p:sp>
      <p:sp>
        <p:nvSpPr>
          <p:cNvPr id="14" name="Shape 12"/>
          <p:cNvSpPr/>
          <p:nvPr/>
        </p:nvSpPr>
        <p:spPr>
          <a:xfrm>
            <a:off x="11430000" y="6629400"/>
            <a:ext cx="182880" cy="182880"/>
          </a:xfrm>
          <a:prstGeom prst="ellipse">
            <a:avLst/>
          </a:prstGeom>
          <a:solidFill>
            <a:srgbClr val="C9A84C"/>
          </a:solidFill>
          <a:ln/>
        </p:spPr>
      </p:sp>
      <p:sp>
        <p:nvSpPr>
          <p:cNvPr id="15" name="Text 13"/>
          <p:cNvSpPr/>
          <p:nvPr/>
        </p:nvSpPr>
        <p:spPr>
          <a:xfrm>
            <a:off x="457200" y="6583680"/>
            <a:ext cx="10789920" cy="640080"/>
          </a:xfrm>
          <a:prstGeom prst="rect">
            <a:avLst/>
          </a:prstGeom>
          <a:noFill/>
          <a:ln/>
        </p:spPr>
        <p:txBody>
          <a:bodyPr wrap="square" rtlCol="0" anchor="ctr"/>
          <a:lstStyle/>
          <a:p>
            <a:pPr rtl="1" algn="r" indent="0" marL="0">
              <a:buNone/>
            </a:pPr>
            <a:r>
              <a:rPr lang="en-US" sz="2200" dirty="0">
                <a:solidFill>
                  <a:srgbClr val="FFFFFF"/>
                </a:solidFill>
                <a:latin typeface="Arial" pitchFamily="34" charset="0"/>
                <a:ea typeface="Arial" pitchFamily="34" charset="-122"/>
                <a:cs typeface="Arial" pitchFamily="34" charset="-120"/>
              </a:rPr>
              <a:t>الاحتكاك بالرقبة أو الذراعين</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457200"/>
            <a:ext cx="12188952" cy="1645920"/>
          </a:xfrm>
          <a:prstGeom prst="rect">
            <a:avLst/>
          </a:prstGeom>
          <a:solidFill>
            <a:srgbClr val="C9A84C"/>
          </a:solidFill>
          <a:ln/>
        </p:spPr>
      </p:sp>
      <p:sp>
        <p:nvSpPr>
          <p:cNvPr id="3" name="Text 1"/>
          <p:cNvSpPr/>
          <p:nvPr/>
        </p:nvSpPr>
        <p:spPr>
          <a:xfrm>
            <a:off x="0" y="457200"/>
            <a:ext cx="12188952" cy="1645920"/>
          </a:xfrm>
          <a:prstGeom prst="rect">
            <a:avLst/>
          </a:prstGeom>
          <a:noFill/>
          <a:ln/>
        </p:spPr>
        <p:txBody>
          <a:bodyPr wrap="square" rtlCol="0" anchor="ctr"/>
          <a:lstStyle/>
          <a:p>
            <a:pPr rtl="1" algn="ctr" indent="0" marL="0">
              <a:buNone/>
            </a:pPr>
            <a:r>
              <a:rPr lang="en-US" sz="3200" b="1" dirty="0">
                <a:solidFill>
                  <a:srgbClr val="0F1B2D"/>
                </a:solidFill>
                <a:latin typeface="Arial" pitchFamily="34" charset="0"/>
                <a:ea typeface="Arial" pitchFamily="34" charset="-122"/>
                <a:cs typeface="Arial" pitchFamily="34" charset="-120"/>
              </a:rPr>
              <a:t>التمرين العملي</a:t>
            </a:r>
            <a:endParaRPr lang="en-US" sz="3200" dirty="0"/>
          </a:p>
        </p:txBody>
      </p:sp>
      <p:sp>
        <p:nvSpPr>
          <p:cNvPr id="4" name="Text 2"/>
          <p:cNvSpPr/>
          <p:nvPr/>
        </p:nvSpPr>
        <p:spPr>
          <a:xfrm>
            <a:off x="914400" y="2377440"/>
            <a:ext cx="10360152" cy="4023360"/>
          </a:xfrm>
          <a:prstGeom prst="rect">
            <a:avLst/>
          </a:prstGeom>
          <a:noFill/>
          <a:ln/>
        </p:spPr>
        <p:txBody>
          <a:bodyPr wrap="square" rtlCol="0" anchor="t"/>
          <a:lstStyle/>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أخذ مساحة أكبر مما تحتاج</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كتفان للخلف، صدر للخارج</a:t>
            </a:r>
            <a:endParaRPr lang="en-US" sz="2000" dirty="0"/>
          </a:p>
          <a:p>
            <a:pPr rtl="1" algn="r" indent="0" marL="0">
              <a:lnSpc>
                <a:spcPct val="180000"/>
              </a:lnSpc>
              <a:buNone/>
            </a:pPr>
            <a:r>
              <a:rPr lang="en-US" sz="2000" dirty="0">
                <a:solidFill>
                  <a:srgbClr val="FFFFFF"/>
                </a:solidFill>
                <a:latin typeface="Arial" pitchFamily="34" charset="0"/>
                <a:ea typeface="Arial" pitchFamily="34" charset="-122"/>
                <a:cs typeface="Arial" pitchFamily="34" charset="-120"/>
              </a:rPr>
              <a:t>رأس مرفوع، ذقن موازٍ</a:t>
            </a:r>
            <a:endParaRPr lang="en-US" sz="2000" dirty="0"/>
          </a:p>
        </p:txBody>
      </p:sp>
      <p:sp>
        <p:nvSpPr>
          <p:cNvPr id="5" name="Shape 3"/>
          <p:cNvSpPr/>
          <p:nvPr/>
        </p:nvSpPr>
        <p:spPr>
          <a:xfrm>
            <a:off x="0" y="6537960"/>
            <a:ext cx="12188952" cy="320040"/>
          </a:xfrm>
          <a:prstGeom prst="rect">
            <a:avLst/>
          </a:prstGeom>
          <a:solidFill>
            <a:srgbClr val="C9A84C"/>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12188952" cy="1280160"/>
          </a:xfrm>
          <a:prstGeom prst="rect">
            <a:avLst/>
          </a:prstGeom>
          <a:solidFill>
            <a:srgbClr val="162338"/>
          </a:solidFill>
          <a:ln/>
        </p:spPr>
      </p:sp>
      <p:sp>
        <p:nvSpPr>
          <p:cNvPr id="3" name="Shape 1"/>
          <p:cNvSpPr/>
          <p:nvPr/>
        </p:nvSpPr>
        <p:spPr>
          <a:xfrm>
            <a:off x="0" y="0"/>
            <a:ext cx="109728" cy="1280160"/>
          </a:xfrm>
          <a:prstGeom prst="rect">
            <a:avLst/>
          </a:prstGeom>
          <a:solidFill>
            <a:srgbClr val="C9A84C"/>
          </a:solidFill>
          <a:ln/>
        </p:spPr>
      </p:sp>
      <p:sp>
        <p:nvSpPr>
          <p:cNvPr id="4" name="Text 2"/>
          <p:cNvSpPr/>
          <p:nvPr/>
        </p:nvSpPr>
        <p:spPr>
          <a:xfrm>
            <a:off x="274320" y="0"/>
            <a:ext cx="11612880" cy="1280160"/>
          </a:xfrm>
          <a:prstGeom prst="rect">
            <a:avLst/>
          </a:prstGeom>
          <a:noFill/>
          <a:ln/>
        </p:spPr>
        <p:txBody>
          <a:bodyPr wrap="square" rtlCol="0" anchor="ctr"/>
          <a:lstStyle/>
          <a:p>
            <a:pPr rtl="1" algn="r" indent="0" marL="0">
              <a:buNone/>
            </a:pPr>
            <a:r>
              <a:rPr lang="en-US" sz="3000" b="1" dirty="0">
                <a:solidFill>
                  <a:srgbClr val="C9A84C"/>
                </a:solidFill>
                <a:latin typeface="Arial" pitchFamily="34" charset="0"/>
                <a:ea typeface="Arial" pitchFamily="34" charset="-122"/>
                <a:cs typeface="Arial" pitchFamily="34" charset="-120"/>
              </a:rPr>
              <a:t>ما تعلمناه اليوم</a:t>
            </a:r>
            <a:endParaRPr lang="en-US" sz="3000" dirty="0"/>
          </a:p>
        </p:txBody>
      </p:sp>
      <p:sp>
        <p:nvSpPr>
          <p:cNvPr id="5" name="Shape 3"/>
          <p:cNvSpPr/>
          <p:nvPr/>
        </p:nvSpPr>
        <p:spPr>
          <a:xfrm>
            <a:off x="10972800" y="1737360"/>
            <a:ext cx="640080" cy="548640"/>
          </a:xfrm>
          <a:prstGeom prst="rect">
            <a:avLst/>
          </a:prstGeom>
          <a:solidFill>
            <a:srgbClr val="C9A84C"/>
          </a:solidFill>
          <a:ln/>
        </p:spPr>
      </p:sp>
      <p:sp>
        <p:nvSpPr>
          <p:cNvPr id="6" name="Text 4"/>
          <p:cNvSpPr/>
          <p:nvPr/>
        </p:nvSpPr>
        <p:spPr>
          <a:xfrm>
            <a:off x="10972800" y="173736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457200" y="173736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الآن وقد بنيت أساساً قوياً في الثقة والمظهر والعيون</a:t>
            </a:r>
            <a:endParaRPr lang="en-US" sz="2000" dirty="0"/>
          </a:p>
        </p:txBody>
      </p:sp>
      <p:sp>
        <p:nvSpPr>
          <p:cNvPr id="8" name="Shape 6"/>
          <p:cNvSpPr/>
          <p:nvPr/>
        </p:nvSpPr>
        <p:spPr>
          <a:xfrm>
            <a:off x="10972800" y="3017520"/>
            <a:ext cx="640080" cy="548640"/>
          </a:xfrm>
          <a:prstGeom prst="rect">
            <a:avLst/>
          </a:prstGeom>
          <a:solidFill>
            <a:srgbClr val="C9A84C"/>
          </a:solidFill>
          <a:ln/>
        </p:spPr>
      </p:sp>
      <p:sp>
        <p:nvSpPr>
          <p:cNvPr id="9" name="Text 7"/>
          <p:cNvSpPr/>
          <p:nvPr/>
        </p:nvSpPr>
        <p:spPr>
          <a:xfrm>
            <a:off x="10972800" y="301752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2</a:t>
            </a:r>
            <a:endParaRPr lang="en-US" sz="1800" dirty="0"/>
          </a:p>
        </p:txBody>
      </p:sp>
      <p:sp>
        <p:nvSpPr>
          <p:cNvPr id="10" name="Text 8"/>
          <p:cNvSpPr/>
          <p:nvPr/>
        </p:nvSpPr>
        <p:spPr>
          <a:xfrm>
            <a:off x="457200" y="301752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هذه الوضعية تغير أيضاً الطريقة التي تشعر بها بها</a:t>
            </a:r>
            <a:endParaRPr lang="en-US" sz="2000" dirty="0"/>
          </a:p>
        </p:txBody>
      </p:sp>
      <p:sp>
        <p:nvSpPr>
          <p:cNvPr id="11" name="Shape 9"/>
          <p:cNvSpPr/>
          <p:nvPr/>
        </p:nvSpPr>
        <p:spPr>
          <a:xfrm>
            <a:off x="10972800" y="4297680"/>
            <a:ext cx="640080" cy="548640"/>
          </a:xfrm>
          <a:prstGeom prst="rect">
            <a:avLst/>
          </a:prstGeom>
          <a:solidFill>
            <a:srgbClr val="C9A84C"/>
          </a:solidFill>
          <a:ln/>
        </p:spPr>
      </p:sp>
      <p:sp>
        <p:nvSpPr>
          <p:cNvPr id="12" name="Text 10"/>
          <p:cNvSpPr/>
          <p:nvPr/>
        </p:nvSpPr>
        <p:spPr>
          <a:xfrm>
            <a:off x="10972800" y="4297680"/>
            <a:ext cx="640080" cy="548640"/>
          </a:xfrm>
          <a:prstGeom prst="rect">
            <a:avLst/>
          </a:prstGeom>
          <a:noFill/>
          <a:ln/>
        </p:spPr>
        <p:txBody>
          <a:bodyPr wrap="square" rtlCol="0" anchor="ctr"/>
          <a:lstStyle/>
          <a:p>
            <a:pPr algn="ctr" indent="0" marL="0">
              <a:buNone/>
            </a:pPr>
            <a:r>
              <a:rPr lang="en-US" sz="1800" b="1" dirty="0">
                <a:solidFill>
                  <a:srgbClr val="0F1B2D"/>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57200" y="4297680"/>
            <a:ext cx="10332720" cy="1005840"/>
          </a:xfrm>
          <a:prstGeom prst="rect">
            <a:avLst/>
          </a:prstGeom>
          <a:noFill/>
          <a:ln/>
        </p:spPr>
        <p:txBody>
          <a:bodyPr wrap="square" rtlCol="0" anchor="ctr"/>
          <a:lstStyle/>
          <a:p>
            <a:pPr rtl="1" algn="r" indent="0" marL="0">
              <a:buNone/>
            </a:pPr>
            <a:r>
              <a:rPr lang="en-US" sz="2000" dirty="0">
                <a:solidFill>
                  <a:srgbClr val="FFFFFF"/>
                </a:solidFill>
                <a:latin typeface="Arial" pitchFamily="34" charset="0"/>
                <a:ea typeface="Arial" pitchFamily="34" charset="-122"/>
                <a:cs typeface="Arial" pitchFamily="34" charset="-120"/>
              </a:rPr>
              <a:t>هذه الوضعية التي تشبه الجنود في الوقوف الاحترامي</a:t>
            </a:r>
            <a:endParaRPr lang="en-US" sz="2000" dirty="0"/>
          </a:p>
        </p:txBody>
      </p:sp>
      <p:sp>
        <p:nvSpPr>
          <p:cNvPr id="14" name="Shape 12"/>
          <p:cNvSpPr/>
          <p:nvPr/>
        </p:nvSpPr>
        <p:spPr>
          <a:xfrm>
            <a:off x="0" y="6537960"/>
            <a:ext cx="12188952" cy="320040"/>
          </a:xfrm>
          <a:prstGeom prst="rect">
            <a:avLst/>
          </a:prstGeom>
          <a:solidFill>
            <a:srgbClr val="C9A84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2026-06-13T14:16:03Z</dcterms:created>
  <dcterms:modified xsi:type="dcterms:W3CDTF">2026-06-13T14:16:03Z</dcterms:modified>
</cp:coreProperties>
</file>